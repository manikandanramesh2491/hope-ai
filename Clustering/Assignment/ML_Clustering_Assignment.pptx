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4" r:id="rId1"/>
  </p:sldMasterIdLst>
  <p:sldIdLst>
    <p:sldId id="256" r:id="rId2"/>
    <p:sldId id="257" r:id="rId3"/>
    <p:sldId id="259" r:id="rId4"/>
    <p:sldId id="290" r:id="rId5"/>
    <p:sldId id="291" r:id="rId6"/>
    <p:sldId id="292" r:id="rId7"/>
    <p:sldId id="264" r:id="rId8"/>
    <p:sldId id="265"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87301-41E2-2B7B-0710-FD75F5AC93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AA7A7D-03F6-EFDA-C4B2-F797404C13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800085-3612-CDAA-6469-2F65734096A0}"/>
              </a:ext>
            </a:extLst>
          </p:cNvPr>
          <p:cNvSpPr>
            <a:spLocks noGrp="1"/>
          </p:cNvSpPr>
          <p:nvPr>
            <p:ph type="dt" sz="half" idx="10"/>
          </p:nvPr>
        </p:nvSpPr>
        <p:spPr/>
        <p:txBody>
          <a:bodyPr/>
          <a:lstStyle/>
          <a:p>
            <a:fld id="{6F6FE578-5207-496D-ADC3-5DE6A3872F31}" type="datetimeFigureOut">
              <a:rPr lang="en-IN" smtClean="0"/>
              <a:t>11-10-2026</a:t>
            </a:fld>
            <a:endParaRPr lang="en-IN"/>
          </a:p>
        </p:txBody>
      </p:sp>
      <p:sp>
        <p:nvSpPr>
          <p:cNvPr id="5" name="Footer Placeholder 4">
            <a:extLst>
              <a:ext uri="{FF2B5EF4-FFF2-40B4-BE49-F238E27FC236}">
                <a16:creationId xmlns:a16="http://schemas.microsoft.com/office/drawing/2014/main" id="{24A0050A-27E4-BDCF-DD14-85CA4B63AC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4706D2-66A7-F6B2-B465-1BECCDCF78D0}"/>
              </a:ext>
            </a:extLst>
          </p:cNvPr>
          <p:cNvSpPr>
            <a:spLocks noGrp="1"/>
          </p:cNvSpPr>
          <p:nvPr>
            <p:ph type="sldNum" sz="quarter" idx="12"/>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558851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D181F-11B7-5CE9-1F2C-B933E0227B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31B402-E6A5-D854-5597-974948E7C7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E9E787-4F61-9007-AAD1-5A68062E40EC}"/>
              </a:ext>
            </a:extLst>
          </p:cNvPr>
          <p:cNvSpPr>
            <a:spLocks noGrp="1"/>
          </p:cNvSpPr>
          <p:nvPr>
            <p:ph type="dt" sz="half" idx="10"/>
          </p:nvPr>
        </p:nvSpPr>
        <p:spPr/>
        <p:txBody>
          <a:bodyPr/>
          <a:lstStyle/>
          <a:p>
            <a:fld id="{6F6FE578-5207-496D-ADC3-5DE6A3872F31}" type="datetimeFigureOut">
              <a:rPr lang="en-IN" smtClean="0"/>
              <a:t>11-10-2026</a:t>
            </a:fld>
            <a:endParaRPr lang="en-IN"/>
          </a:p>
        </p:txBody>
      </p:sp>
      <p:sp>
        <p:nvSpPr>
          <p:cNvPr id="5" name="Footer Placeholder 4">
            <a:extLst>
              <a:ext uri="{FF2B5EF4-FFF2-40B4-BE49-F238E27FC236}">
                <a16:creationId xmlns:a16="http://schemas.microsoft.com/office/drawing/2014/main" id="{51938288-0981-B2C5-CADC-A306171EF9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719194-045E-354D-3F58-FE4BF07620D2}"/>
              </a:ext>
            </a:extLst>
          </p:cNvPr>
          <p:cNvSpPr>
            <a:spLocks noGrp="1"/>
          </p:cNvSpPr>
          <p:nvPr>
            <p:ph type="sldNum" sz="quarter" idx="12"/>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1883931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9B2B4-E4DF-81CB-5BFE-F591D72DF0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BB7FD7-6C74-2C81-61CE-6F2FAD1E84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F4270C-7133-08C9-0A8E-CAA4A4FBD3BA}"/>
              </a:ext>
            </a:extLst>
          </p:cNvPr>
          <p:cNvSpPr>
            <a:spLocks noGrp="1"/>
          </p:cNvSpPr>
          <p:nvPr>
            <p:ph type="dt" sz="half" idx="10"/>
          </p:nvPr>
        </p:nvSpPr>
        <p:spPr/>
        <p:txBody>
          <a:bodyPr/>
          <a:lstStyle/>
          <a:p>
            <a:fld id="{6F6FE578-5207-496D-ADC3-5DE6A3872F31}" type="datetimeFigureOut">
              <a:rPr lang="en-IN" smtClean="0"/>
              <a:t>11-10-2026</a:t>
            </a:fld>
            <a:endParaRPr lang="en-IN"/>
          </a:p>
        </p:txBody>
      </p:sp>
      <p:sp>
        <p:nvSpPr>
          <p:cNvPr id="5" name="Footer Placeholder 4">
            <a:extLst>
              <a:ext uri="{FF2B5EF4-FFF2-40B4-BE49-F238E27FC236}">
                <a16:creationId xmlns:a16="http://schemas.microsoft.com/office/drawing/2014/main" id="{62B63029-CDCA-690B-65B6-89D7D01C9C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A82888-BA2A-29A9-3147-7B7F26C1A67F}"/>
              </a:ext>
            </a:extLst>
          </p:cNvPr>
          <p:cNvSpPr>
            <a:spLocks noGrp="1"/>
          </p:cNvSpPr>
          <p:nvPr>
            <p:ph type="sldNum" sz="quarter" idx="12"/>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3769808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18CC8-0F1E-3B1D-2984-31F6158FF6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58D36F-6FEF-94FD-DE46-C609283D09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894D1B1-B81D-BFDE-AE86-3D0DE78AD3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55780B-BE1B-1FA4-6051-D061CCB0AB6E}"/>
              </a:ext>
            </a:extLst>
          </p:cNvPr>
          <p:cNvSpPr>
            <a:spLocks noGrp="1"/>
          </p:cNvSpPr>
          <p:nvPr>
            <p:ph type="dt" sz="half" idx="10"/>
          </p:nvPr>
        </p:nvSpPr>
        <p:spPr/>
        <p:txBody>
          <a:bodyPr/>
          <a:lstStyle/>
          <a:p>
            <a:fld id="{6F6FE578-5207-496D-ADC3-5DE6A3872F31}" type="datetimeFigureOut">
              <a:rPr lang="en-IN" smtClean="0"/>
              <a:t>11-10-2026</a:t>
            </a:fld>
            <a:endParaRPr lang="en-IN"/>
          </a:p>
        </p:txBody>
      </p:sp>
      <p:sp>
        <p:nvSpPr>
          <p:cNvPr id="6" name="Footer Placeholder 5">
            <a:extLst>
              <a:ext uri="{FF2B5EF4-FFF2-40B4-BE49-F238E27FC236}">
                <a16:creationId xmlns:a16="http://schemas.microsoft.com/office/drawing/2014/main" id="{F9A932CB-EA91-02AE-B613-07C9F387D6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C9976F-C42F-A76D-90AF-E9F1CC92243B}"/>
              </a:ext>
            </a:extLst>
          </p:cNvPr>
          <p:cNvSpPr>
            <a:spLocks noGrp="1"/>
          </p:cNvSpPr>
          <p:nvPr>
            <p:ph type="sldNum" sz="quarter" idx="12"/>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2977466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3B2D5-EFE5-3748-7205-17E5DB7CCE7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D1C11C-BD5F-107F-39E2-AF8B929CB7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2577F9-37B0-62D7-E7E6-334312FFE8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369EDDA-1893-D80C-8AD0-C21A6E358B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91AA83-8348-D4F5-9B52-1D0C0DB0D4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98DAA29-38E4-5D25-EBC6-1CAB47DB3F01}"/>
              </a:ext>
            </a:extLst>
          </p:cNvPr>
          <p:cNvSpPr>
            <a:spLocks noGrp="1"/>
          </p:cNvSpPr>
          <p:nvPr>
            <p:ph type="dt" sz="half" idx="10"/>
          </p:nvPr>
        </p:nvSpPr>
        <p:spPr/>
        <p:txBody>
          <a:bodyPr/>
          <a:lstStyle/>
          <a:p>
            <a:fld id="{6F6FE578-5207-496D-ADC3-5DE6A3872F31}" type="datetimeFigureOut">
              <a:rPr lang="en-IN" smtClean="0"/>
              <a:t>11-10-2026</a:t>
            </a:fld>
            <a:endParaRPr lang="en-IN"/>
          </a:p>
        </p:txBody>
      </p:sp>
      <p:sp>
        <p:nvSpPr>
          <p:cNvPr id="8" name="Footer Placeholder 7">
            <a:extLst>
              <a:ext uri="{FF2B5EF4-FFF2-40B4-BE49-F238E27FC236}">
                <a16:creationId xmlns:a16="http://schemas.microsoft.com/office/drawing/2014/main" id="{7ECE7411-6257-7CEA-7EC4-2C466E879A5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E3E294D-F68A-6AAE-125B-22B87A6B2695}"/>
              </a:ext>
            </a:extLst>
          </p:cNvPr>
          <p:cNvSpPr>
            <a:spLocks noGrp="1"/>
          </p:cNvSpPr>
          <p:nvPr>
            <p:ph type="sldNum" sz="quarter" idx="12"/>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41652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E55F0-C39B-6729-4666-9B93335551F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06A23B-1EC8-6C56-E521-75853ADEF833}"/>
              </a:ext>
            </a:extLst>
          </p:cNvPr>
          <p:cNvSpPr>
            <a:spLocks noGrp="1"/>
          </p:cNvSpPr>
          <p:nvPr>
            <p:ph type="dt" sz="half" idx="10"/>
          </p:nvPr>
        </p:nvSpPr>
        <p:spPr/>
        <p:txBody>
          <a:bodyPr/>
          <a:lstStyle/>
          <a:p>
            <a:fld id="{6F6FE578-5207-496D-ADC3-5DE6A3872F31}" type="datetimeFigureOut">
              <a:rPr lang="en-IN" smtClean="0"/>
              <a:t>11-10-2026</a:t>
            </a:fld>
            <a:endParaRPr lang="en-IN"/>
          </a:p>
        </p:txBody>
      </p:sp>
      <p:sp>
        <p:nvSpPr>
          <p:cNvPr id="4" name="Footer Placeholder 3">
            <a:extLst>
              <a:ext uri="{FF2B5EF4-FFF2-40B4-BE49-F238E27FC236}">
                <a16:creationId xmlns:a16="http://schemas.microsoft.com/office/drawing/2014/main" id="{2FC9B370-68D7-E1C3-E480-3617C398159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BEF4EDC-340B-4CC3-C54C-877498EDFCB1}"/>
              </a:ext>
            </a:extLst>
          </p:cNvPr>
          <p:cNvSpPr>
            <a:spLocks noGrp="1"/>
          </p:cNvSpPr>
          <p:nvPr>
            <p:ph type="sldNum" sz="quarter" idx="12"/>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790215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97748B-48AC-FB00-934C-477CE24DA2EE}"/>
              </a:ext>
            </a:extLst>
          </p:cNvPr>
          <p:cNvSpPr>
            <a:spLocks noGrp="1"/>
          </p:cNvSpPr>
          <p:nvPr>
            <p:ph type="dt" sz="half" idx="10"/>
          </p:nvPr>
        </p:nvSpPr>
        <p:spPr/>
        <p:txBody>
          <a:bodyPr/>
          <a:lstStyle/>
          <a:p>
            <a:fld id="{6F6FE578-5207-496D-ADC3-5DE6A3872F31}" type="datetimeFigureOut">
              <a:rPr lang="en-IN" smtClean="0"/>
              <a:t>11-10-2026</a:t>
            </a:fld>
            <a:endParaRPr lang="en-IN"/>
          </a:p>
        </p:txBody>
      </p:sp>
      <p:sp>
        <p:nvSpPr>
          <p:cNvPr id="3" name="Footer Placeholder 2">
            <a:extLst>
              <a:ext uri="{FF2B5EF4-FFF2-40B4-BE49-F238E27FC236}">
                <a16:creationId xmlns:a16="http://schemas.microsoft.com/office/drawing/2014/main" id="{8B5596D1-BBC2-CBEB-54CF-51D6B667AC4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8BBA825-9C2D-C085-10B3-6B3CAD796713}"/>
              </a:ext>
            </a:extLst>
          </p:cNvPr>
          <p:cNvSpPr>
            <a:spLocks noGrp="1"/>
          </p:cNvSpPr>
          <p:nvPr>
            <p:ph type="sldNum" sz="quarter" idx="12"/>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275302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11C6A-E4DF-9086-24EC-EAD1CF2B50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1CE2B9-5F09-28BD-2603-C097C5BF1F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13C779-0373-F3A0-9B00-3CFF064B32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4F2514-609E-C497-B84C-EB4FF2B75AF9}"/>
              </a:ext>
            </a:extLst>
          </p:cNvPr>
          <p:cNvSpPr>
            <a:spLocks noGrp="1"/>
          </p:cNvSpPr>
          <p:nvPr>
            <p:ph type="dt" sz="half" idx="10"/>
          </p:nvPr>
        </p:nvSpPr>
        <p:spPr/>
        <p:txBody>
          <a:bodyPr/>
          <a:lstStyle/>
          <a:p>
            <a:fld id="{6F6FE578-5207-496D-ADC3-5DE6A3872F31}" type="datetimeFigureOut">
              <a:rPr lang="en-IN" smtClean="0"/>
              <a:t>11-10-2026</a:t>
            </a:fld>
            <a:endParaRPr lang="en-IN"/>
          </a:p>
        </p:txBody>
      </p:sp>
      <p:sp>
        <p:nvSpPr>
          <p:cNvPr id="6" name="Footer Placeholder 5">
            <a:extLst>
              <a:ext uri="{FF2B5EF4-FFF2-40B4-BE49-F238E27FC236}">
                <a16:creationId xmlns:a16="http://schemas.microsoft.com/office/drawing/2014/main" id="{61799D14-0E66-9795-D258-166201991A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B1D095-675C-90AB-66D5-016FEBEA803B}"/>
              </a:ext>
            </a:extLst>
          </p:cNvPr>
          <p:cNvSpPr>
            <a:spLocks noGrp="1"/>
          </p:cNvSpPr>
          <p:nvPr>
            <p:ph type="sldNum" sz="quarter" idx="12"/>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2139101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F1A55-1926-4B4C-CF3C-5FE8E0821A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1E8061-51CF-AA79-C8AE-ADEAE9D04F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E3FAE3-CEDA-7DE2-A09C-AB5263657D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AC78C9-C2E1-473F-B18C-2820B7B413CA}"/>
              </a:ext>
            </a:extLst>
          </p:cNvPr>
          <p:cNvSpPr>
            <a:spLocks noGrp="1"/>
          </p:cNvSpPr>
          <p:nvPr>
            <p:ph type="dt" sz="half" idx="10"/>
          </p:nvPr>
        </p:nvSpPr>
        <p:spPr/>
        <p:txBody>
          <a:bodyPr/>
          <a:lstStyle/>
          <a:p>
            <a:fld id="{6F6FE578-5207-496D-ADC3-5DE6A3872F31}" type="datetimeFigureOut">
              <a:rPr lang="en-IN" smtClean="0"/>
              <a:t>11-10-2026</a:t>
            </a:fld>
            <a:endParaRPr lang="en-IN"/>
          </a:p>
        </p:txBody>
      </p:sp>
      <p:sp>
        <p:nvSpPr>
          <p:cNvPr id="6" name="Footer Placeholder 5">
            <a:extLst>
              <a:ext uri="{FF2B5EF4-FFF2-40B4-BE49-F238E27FC236}">
                <a16:creationId xmlns:a16="http://schemas.microsoft.com/office/drawing/2014/main" id="{F44CA7AE-D7E8-6907-C570-A7E7FB9700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AE6367-2E4B-D660-6ECB-93F4B99E9E56}"/>
              </a:ext>
            </a:extLst>
          </p:cNvPr>
          <p:cNvSpPr>
            <a:spLocks noGrp="1"/>
          </p:cNvSpPr>
          <p:nvPr>
            <p:ph type="sldNum" sz="quarter" idx="12"/>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1075497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6472B-6C96-1069-5ED8-FFB7A7EBD73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B5E0D8-EEF0-4BF1-013B-A26EFAB27D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0BE78A-48F2-1BA7-F630-B326D5707A65}"/>
              </a:ext>
            </a:extLst>
          </p:cNvPr>
          <p:cNvSpPr>
            <a:spLocks noGrp="1"/>
          </p:cNvSpPr>
          <p:nvPr>
            <p:ph type="dt" sz="half" idx="10"/>
          </p:nvPr>
        </p:nvSpPr>
        <p:spPr/>
        <p:txBody>
          <a:bodyPr/>
          <a:lstStyle/>
          <a:p>
            <a:fld id="{6F6FE578-5207-496D-ADC3-5DE6A3872F31}" type="datetimeFigureOut">
              <a:rPr lang="en-IN" smtClean="0"/>
              <a:t>11-10-2026</a:t>
            </a:fld>
            <a:endParaRPr lang="en-IN"/>
          </a:p>
        </p:txBody>
      </p:sp>
      <p:sp>
        <p:nvSpPr>
          <p:cNvPr id="5" name="Footer Placeholder 4">
            <a:extLst>
              <a:ext uri="{FF2B5EF4-FFF2-40B4-BE49-F238E27FC236}">
                <a16:creationId xmlns:a16="http://schemas.microsoft.com/office/drawing/2014/main" id="{068580A8-F218-FFC8-0F31-91D2A93000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67412B-8948-A30F-7A3A-4039DA42990D}"/>
              </a:ext>
            </a:extLst>
          </p:cNvPr>
          <p:cNvSpPr>
            <a:spLocks noGrp="1"/>
          </p:cNvSpPr>
          <p:nvPr>
            <p:ph type="sldNum" sz="quarter" idx="12"/>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2498086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21602F-FBE3-E2DE-21F2-2D92F80A78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2FBF86-D134-D44D-8FF8-3F09343FBA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B9F0C9-2A19-F9B9-44A5-3E53D3D2288A}"/>
              </a:ext>
            </a:extLst>
          </p:cNvPr>
          <p:cNvSpPr>
            <a:spLocks noGrp="1"/>
          </p:cNvSpPr>
          <p:nvPr>
            <p:ph type="dt" sz="half" idx="10"/>
          </p:nvPr>
        </p:nvSpPr>
        <p:spPr/>
        <p:txBody>
          <a:bodyPr/>
          <a:lstStyle/>
          <a:p>
            <a:fld id="{6F6FE578-5207-496D-ADC3-5DE6A3872F31}" type="datetimeFigureOut">
              <a:rPr lang="en-IN" smtClean="0"/>
              <a:t>11-10-2026</a:t>
            </a:fld>
            <a:endParaRPr lang="en-IN"/>
          </a:p>
        </p:txBody>
      </p:sp>
      <p:sp>
        <p:nvSpPr>
          <p:cNvPr id="5" name="Footer Placeholder 4">
            <a:extLst>
              <a:ext uri="{FF2B5EF4-FFF2-40B4-BE49-F238E27FC236}">
                <a16:creationId xmlns:a16="http://schemas.microsoft.com/office/drawing/2014/main" id="{EF9681BD-0D35-2423-89E2-9B871A8DD2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03E745-D53E-2D21-9DB7-22C16F8353D2}"/>
              </a:ext>
            </a:extLst>
          </p:cNvPr>
          <p:cNvSpPr>
            <a:spLocks noGrp="1"/>
          </p:cNvSpPr>
          <p:nvPr>
            <p:ph type="sldNum" sz="quarter" idx="12"/>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37780392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IN"/>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10/11/2026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99385844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endParaRPr lang="en-IN"/>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6F6FE578-5207-496D-ADC3-5DE6A3872F31}" type="datetimeFigureOut">
              <a:rPr lang="en-IN" smtClean="0"/>
              <a:t>11-10-2026</a:t>
            </a:fld>
            <a:endParaRPr lang="en-IN"/>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95FE0076-A1EB-4C1F-96B2-D99CDFEF9A3C}" type="slidenum">
              <a:rPr lang="en-IN" smtClean="0"/>
              <a:t>‹#›</a:t>
            </a:fld>
            <a:endParaRPr lang="en-IN"/>
          </a:p>
        </p:txBody>
      </p:sp>
    </p:spTree>
    <p:extLst>
      <p:ext uri="{BB962C8B-B14F-4D97-AF65-F5344CB8AC3E}">
        <p14:creationId xmlns:p14="http://schemas.microsoft.com/office/powerpoint/2010/main" val="2171196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5AF19A-6D12-6114-B374-E99E6C87BE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68B06D-A224-332F-FC7C-D902810F41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15CD4C-EBC6-E7EA-73D5-C93BAFFDEF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6FE578-5207-496D-ADC3-5DE6A3872F31}" type="datetimeFigureOut">
              <a:rPr lang="en-IN" smtClean="0"/>
              <a:t>11-10-2026</a:t>
            </a:fld>
            <a:endParaRPr lang="en-IN"/>
          </a:p>
        </p:txBody>
      </p:sp>
      <p:sp>
        <p:nvSpPr>
          <p:cNvPr id="5" name="Footer Placeholder 4">
            <a:extLst>
              <a:ext uri="{FF2B5EF4-FFF2-40B4-BE49-F238E27FC236}">
                <a16:creationId xmlns:a16="http://schemas.microsoft.com/office/drawing/2014/main" id="{38B8AFCF-81CB-58D6-20A6-CE88693E7E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08B223D-FAAA-7ABC-26E0-118DE4E570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FE0076-A1EB-4C1F-96B2-D99CDFEF9A3C}" type="slidenum">
              <a:rPr lang="en-IN" smtClean="0"/>
              <a:t>‹#›</a:t>
            </a:fld>
            <a:endParaRPr lang="en-IN"/>
          </a:p>
        </p:txBody>
      </p:sp>
    </p:spTree>
    <p:extLst>
      <p:ext uri="{BB962C8B-B14F-4D97-AF65-F5344CB8AC3E}">
        <p14:creationId xmlns:p14="http://schemas.microsoft.com/office/powerpoint/2010/main" val="417660101"/>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AC5EC-88AD-A387-72F1-15FF06D34C27}"/>
              </a:ext>
            </a:extLst>
          </p:cNvPr>
          <p:cNvSpPr>
            <a:spLocks noGrp="1"/>
          </p:cNvSpPr>
          <p:nvPr>
            <p:ph type="ctrTitle"/>
          </p:nvPr>
        </p:nvSpPr>
        <p:spPr/>
        <p:txBody>
          <a:bodyPr wrap="square" lIns="73152" tIns="36576" rIns="73152" bIns="36576" anchor="ctr">
            <a:normAutofit/>
          </a:bodyPr>
          <a:lstStyle/>
          <a:p>
            <a:pPr>
              <a:spcAft>
                <a:spcPts val="600"/>
              </a:spcAft>
            </a:pPr>
            <a:r>
              <a:rPr lang="en-US" sz="1800">
                <a:solidFill>
                  <a:srgbClr val="2D3744"/>
                </a:solidFill>
                <a:latin typeface="Aptos"/>
              </a:rPr>
              <a:t>Machine Learning - Clustering</a:t>
            </a:r>
            <a:endParaRPr lang="en-IN" sz="4600"/>
          </a:p>
        </p:txBody>
      </p:sp>
      <p:pic>
        <p:nvPicPr>
          <p:cNvPr id="4" name="Video 3" descr="Math And Science Formulas">
            <a:extLst>
              <a:ext uri="{FF2B5EF4-FFF2-40B4-BE49-F238E27FC236}">
                <a16:creationId xmlns:a16="http://schemas.microsoft.com/office/drawing/2014/main" id="{52041F8A-47BC-0CD0-7763-23F6A1C7CD8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1221" r="-1" b="13815"/>
          <a:stretch>
            <a:fillRect/>
          </a:stretch>
        </p:blipFill>
        <p:spPr>
          <a:xfrm>
            <a:off x="20" y="1"/>
            <a:ext cx="12191979" cy="4467828"/>
          </a:xfrm>
          <a:prstGeom prst="rect">
            <a:avLst/>
          </a:prstGeom>
          <a:noFill/>
        </p:spPr>
      </p:pic>
      <p:sp>
        <p:nvSpPr>
          <p:cNvPr id="13" name="Rectangle 12"/>
          <p:cNvSpPr/>
          <p:nvPr/>
        </p:nvSpPr>
        <p:spPr>
          <a:xfrm>
            <a:off x="685800" y="5138928"/>
            <a:ext cx="2011680" cy="64008"/>
          </a:xfrm>
          <a:prstGeom prst="rect">
            <a:avLst/>
          </a:prstGeom>
          <a:solidFill>
            <a:srgbClr val="00A6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82469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87259B-7AF9-88BA-8581-1998945E656C}"/>
              </a:ext>
            </a:extLst>
          </p:cNvPr>
          <p:cNvSpPr>
            <a:spLocks noGrp="1"/>
          </p:cNvSpPr>
          <p:nvPr>
            <p:ph sz="quarter" idx="15"/>
          </p:nvPr>
        </p:nvSpPr>
        <p:spPr>
          <a:xfrm>
            <a:off x="7901280" y="1828800"/>
            <a:ext cx="3223920" cy="4103913"/>
          </a:xfrm>
        </p:spPr>
        <p:txBody>
          <a:bodyPr wrap="square" lIns="73152" tIns="36576" rIns="73152" bIns="36576" anchor="ctr">
            <a:normAutofit fontScale="92500" lnSpcReduction="20000"/>
          </a:bodyPr>
          <a:lstStyle/>
          <a:p>
            <a:pPr marL="0" indent="0" algn="just">
              <a:lnSpc>
                <a:spcPct val="150000"/>
              </a:lnSpc>
              <a:spcAft>
                <a:spcPts val="600"/>
              </a:spcAft>
              <a:buNone/>
            </a:pPr>
            <a:r>
              <a:rPr lang="en-IN" sz="1800" dirty="0">
                <a:solidFill>
                  <a:srgbClr val="2D3744"/>
                </a:solidFill>
                <a:latin typeface="Aptos"/>
              </a:rPr>
              <a:t>	</a:t>
            </a:r>
            <a:r>
              <a:rPr lang="en-IN" sz="1800" b="1" dirty="0">
                <a:solidFill>
                  <a:srgbClr val="2D3744"/>
                </a:solidFill>
                <a:latin typeface="Aptos"/>
              </a:rPr>
              <a:t>Affinity Propagation</a:t>
            </a:r>
            <a:r>
              <a:rPr lang="en-IN" sz="1800" dirty="0">
                <a:solidFill>
                  <a:srgbClr val="2D3744"/>
                </a:solidFill>
                <a:latin typeface="Aptos"/>
              </a:rPr>
              <a:t> is an unsupervised machine learning clustering algorithm that groups similar data points by exchanging responsibility and availability messages between data points. It automatically identifies representative data points called exemplars and does not require the number of clusters to be specified in advance.</a:t>
            </a:r>
          </a:p>
        </p:txBody>
      </p:sp>
      <p:pic>
        <p:nvPicPr>
          <p:cNvPr id="5" name="Picture 4">
            <a:extLst>
              <a:ext uri="{FF2B5EF4-FFF2-40B4-BE49-F238E27FC236}">
                <a16:creationId xmlns:a16="http://schemas.microsoft.com/office/drawing/2014/main" id="{79C3A350-98C9-5EE1-D7F2-CBBC7777CE05}"/>
              </a:ext>
            </a:extLst>
          </p:cNvPr>
          <p:cNvPicPr>
            <a:picLocks noChangeAspect="1"/>
          </p:cNvPicPr>
          <p:nvPr/>
        </p:nvPicPr>
        <p:blipFill>
          <a:blip r:embed="rId2"/>
          <a:srcRect l="18178"/>
          <a:stretch>
            <a:fillRect/>
          </a:stretch>
        </p:blipFill>
        <p:spPr>
          <a:xfrm>
            <a:off x="12192" y="10"/>
            <a:ext cx="7481777" cy="685799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noFill/>
        </p:spPr>
      </p:pic>
      <p:sp>
        <p:nvSpPr>
          <p:cNvPr id="6" name="Rectangle 5"/>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9" name="TextBox 8"/>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02</a:t>
            </a:r>
          </a:p>
        </p:txBody>
      </p:sp>
      <p:sp>
        <p:nvSpPr>
          <p:cNvPr id="11" name="Title 1">
            <a:extLst>
              <a:ext uri="{FF2B5EF4-FFF2-40B4-BE49-F238E27FC236}">
                <a16:creationId xmlns:a16="http://schemas.microsoft.com/office/drawing/2014/main" id="{AD53ED5F-7DC4-13DF-2CF5-B775E0A84541}"/>
              </a:ext>
            </a:extLst>
          </p:cNvPr>
          <p:cNvSpPr>
            <a:spLocks noGrp="1"/>
          </p:cNvSpPr>
          <p:nvPr>
            <p:ph type="title"/>
          </p:nvPr>
        </p:nvSpPr>
        <p:spPr>
          <a:xfrm>
            <a:off x="7195456" y="365125"/>
            <a:ext cx="4158344" cy="1325563"/>
          </a:xfrm>
        </p:spPr>
        <p:txBody>
          <a:bodyPr wrap="square" lIns="73152" tIns="36576" rIns="73152" bIns="36576" anchor="ctr"/>
          <a:lstStyle/>
          <a:p>
            <a:pPr algn="l">
              <a:spcAft>
                <a:spcPts val="600"/>
              </a:spcAft>
            </a:pPr>
            <a:r>
              <a:rPr lang="en-IN" sz="2800" b="1" dirty="0">
                <a:solidFill>
                  <a:srgbClr val="123054"/>
                </a:solidFill>
                <a:latin typeface="Aptos"/>
              </a:rPr>
              <a:t>Affinity Propagation</a:t>
            </a:r>
          </a:p>
        </p:txBody>
      </p:sp>
    </p:spTree>
    <p:extLst>
      <p:ext uri="{BB962C8B-B14F-4D97-AF65-F5344CB8AC3E}">
        <p14:creationId xmlns:p14="http://schemas.microsoft.com/office/powerpoint/2010/main" val="2744567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06F4-46DA-A4D7-B6D9-1A7114D5A136}"/>
              </a:ext>
            </a:extLst>
          </p:cNvPr>
          <p:cNvSpPr>
            <a:spLocks noGrp="1"/>
          </p:cNvSpPr>
          <p:nvPr>
            <p:ph type="title"/>
          </p:nvPr>
        </p:nvSpPr>
        <p:spPr/>
        <p:txBody>
          <a:bodyPr wrap="square" lIns="73152" tIns="36576" rIns="73152" bIns="36576" anchor="ctr"/>
          <a:lstStyle/>
          <a:p>
            <a:pPr algn="l">
              <a:spcAft>
                <a:spcPts val="600"/>
              </a:spcAft>
            </a:pPr>
            <a:r>
              <a:rPr lang="en-IN" sz="2800" b="1" dirty="0">
                <a:solidFill>
                  <a:srgbClr val="123054"/>
                </a:solidFill>
                <a:latin typeface="Aptos"/>
              </a:rPr>
              <a:t>Affinity Propagation – Venn Diagram</a:t>
            </a:r>
          </a:p>
        </p:txBody>
      </p:sp>
      <p:pic>
        <p:nvPicPr>
          <p:cNvPr id="7" name="Content Placeholder 6">
            <a:extLst>
              <a:ext uri="{FF2B5EF4-FFF2-40B4-BE49-F238E27FC236}">
                <a16:creationId xmlns:a16="http://schemas.microsoft.com/office/drawing/2014/main" id="{6545F1BA-DD1C-4A1F-80E5-B3F64247ADE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058194"/>
            <a:ext cx="5181600" cy="3886200"/>
          </a:xfrm>
          <a:prstGeom prst="rect">
            <a:avLst/>
          </a:prstGeom>
        </p:spPr>
      </p:pic>
      <p:pic>
        <p:nvPicPr>
          <p:cNvPr id="9" name="Content Placeholder 8">
            <a:extLst>
              <a:ext uri="{FF2B5EF4-FFF2-40B4-BE49-F238E27FC236}">
                <a16:creationId xmlns:a16="http://schemas.microsoft.com/office/drawing/2014/main" id="{2DF108AE-9432-1127-D2ED-BF0CC0C7689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05894"/>
            <a:ext cx="5181600" cy="2590800"/>
          </a:xfrm>
          <a:prstGeom prst="rect">
            <a:avLst/>
          </a:prstGeom>
        </p:spPr>
      </p:pic>
      <p:sp>
        <p:nvSpPr>
          <p:cNvPr id="10" name="Rectangle 9"/>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13" name="TextBox 12"/>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03</a:t>
            </a:r>
          </a:p>
        </p:txBody>
      </p:sp>
    </p:spTree>
    <p:extLst>
      <p:ext uri="{BB962C8B-B14F-4D97-AF65-F5344CB8AC3E}">
        <p14:creationId xmlns:p14="http://schemas.microsoft.com/office/powerpoint/2010/main" val="1435770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5A4499A-8E2E-385E-3DF6-78F074C57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0F194-2A77-A5DA-57F2-D6624694BFF5}"/>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Steps to work in Affinity Propagation</a:t>
            </a:r>
            <a:endParaRPr lang="en-IN" dirty="0"/>
          </a:p>
        </p:txBody>
      </p:sp>
      <p:sp>
        <p:nvSpPr>
          <p:cNvPr id="3" name="Content Placeholder 2">
            <a:extLst>
              <a:ext uri="{FF2B5EF4-FFF2-40B4-BE49-F238E27FC236}">
                <a16:creationId xmlns:a16="http://schemas.microsoft.com/office/drawing/2014/main" id="{3F4E7872-8607-42C7-7C5E-98F1C9778061}"/>
              </a:ext>
            </a:extLst>
          </p:cNvPr>
          <p:cNvSpPr>
            <a:spLocks noGrp="1"/>
          </p:cNvSpPr>
          <p:nvPr>
            <p:ph idx="1"/>
          </p:nvPr>
        </p:nvSpPr>
        <p:spPr>
          <a:xfrm>
            <a:off x="762000" y="2254427"/>
            <a:ext cx="10515600" cy="2834962"/>
          </a:xfrm>
        </p:spPr>
        <p:txBody>
          <a:bodyPr wrap="square" lIns="73152" tIns="36576" rIns="73152" bIns="36576" anchor="ctr">
            <a:normAutofit fontScale="92500" lnSpcReduction="10000"/>
          </a:bodyPr>
          <a:lstStyle/>
          <a:p>
            <a:pPr>
              <a:spcAft>
                <a:spcPts val="600"/>
              </a:spcAft>
            </a:pPr>
            <a:r>
              <a:rPr lang="en-IN" sz="1800" dirty="0"/>
              <a:t>Calculate similarity between data points.</a:t>
            </a:r>
          </a:p>
          <a:p>
            <a:pPr>
              <a:spcAft>
                <a:spcPts val="600"/>
              </a:spcAft>
            </a:pPr>
            <a:r>
              <a:rPr lang="en-IN" sz="1800" dirty="0"/>
              <a:t>Initialize responsibility and availability messages.</a:t>
            </a:r>
          </a:p>
          <a:p>
            <a:pPr>
              <a:spcAft>
                <a:spcPts val="600"/>
              </a:spcAft>
            </a:pPr>
            <a:r>
              <a:rPr lang="en-IN" sz="1800" dirty="0"/>
              <a:t>Exchange responsibility messages.</a:t>
            </a:r>
          </a:p>
          <a:p>
            <a:pPr>
              <a:spcAft>
                <a:spcPts val="600"/>
              </a:spcAft>
            </a:pPr>
            <a:r>
              <a:rPr lang="en-IN" sz="1800" dirty="0"/>
              <a:t>Exchange availability messages.</a:t>
            </a:r>
          </a:p>
          <a:p>
            <a:pPr>
              <a:spcAft>
                <a:spcPts val="600"/>
              </a:spcAft>
            </a:pPr>
            <a:r>
              <a:rPr lang="en-IN" sz="1800" dirty="0"/>
              <a:t>Identify exemplars.</a:t>
            </a:r>
          </a:p>
          <a:p>
            <a:pPr>
              <a:spcAft>
                <a:spcPts val="600"/>
              </a:spcAft>
            </a:pPr>
            <a:r>
              <a:rPr lang="en-IN" sz="1800" dirty="0"/>
              <a:t>Assign data points to exemplars</a:t>
            </a:r>
          </a:p>
          <a:p>
            <a:pPr>
              <a:spcAft>
                <a:spcPts val="600"/>
              </a:spcAft>
            </a:pPr>
            <a:r>
              <a:rPr lang="en-IN" sz="1800" dirty="0"/>
              <a:t>Form final clusters.</a:t>
            </a:r>
          </a:p>
          <a:p>
            <a:pPr marL="0" indent="0">
              <a:spcAft>
                <a:spcPts val="600"/>
              </a:spcAft>
              <a:buNone/>
            </a:pPr>
            <a:endParaRPr lang="en-US" sz="1800" dirty="0"/>
          </a:p>
          <a:p>
            <a:pPr>
              <a:spcAft>
                <a:spcPts val="600"/>
              </a:spcAft>
            </a:pPr>
            <a:endParaRPr lang="en-IN" sz="1800" dirty="0">
              <a:solidFill>
                <a:srgbClr val="2D3744"/>
              </a:solidFill>
              <a:latin typeface="Aptos"/>
            </a:endParaRPr>
          </a:p>
          <a:p>
            <a:pPr>
              <a:spcAft>
                <a:spcPts val="600"/>
              </a:spcAft>
            </a:pPr>
            <a:endParaRPr lang="en-IN" dirty="0"/>
          </a:p>
        </p:txBody>
      </p:sp>
      <p:sp>
        <p:nvSpPr>
          <p:cNvPr id="4" name="Rectangle 3">
            <a:extLst>
              <a:ext uri="{FF2B5EF4-FFF2-40B4-BE49-F238E27FC236}">
                <a16:creationId xmlns:a16="http://schemas.microsoft.com/office/drawing/2014/main" id="{B834DE37-8855-570C-6467-5429A7BA29AF}"/>
              </a:ext>
            </a:extLst>
          </p:cNvPr>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AB87AB09-DAC0-CBA9-E19E-B770A08F4BE4}"/>
              </a:ext>
            </a:extLst>
          </p:cNvPr>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2820CE4-0A0F-9E46-EDA8-049778B56B84}"/>
              </a:ext>
            </a:extLst>
          </p:cNvPr>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a:extLst>
              <a:ext uri="{FF2B5EF4-FFF2-40B4-BE49-F238E27FC236}">
                <a16:creationId xmlns:a16="http://schemas.microsoft.com/office/drawing/2014/main" id="{F11274ED-5FF6-E788-593D-0571AB35B9AB}"/>
              </a:ext>
            </a:extLst>
          </p:cNvPr>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09</a:t>
            </a:r>
          </a:p>
        </p:txBody>
      </p:sp>
    </p:spTree>
    <p:extLst>
      <p:ext uri="{BB962C8B-B14F-4D97-AF65-F5344CB8AC3E}">
        <p14:creationId xmlns:p14="http://schemas.microsoft.com/office/powerpoint/2010/main" val="771076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4B22D4-C558-078C-02FD-5F01FDFB2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51D77-2430-072B-D092-1902341776A4}"/>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Advantages</a:t>
            </a:r>
            <a:endParaRPr lang="en-IN" dirty="0"/>
          </a:p>
        </p:txBody>
      </p:sp>
      <p:sp>
        <p:nvSpPr>
          <p:cNvPr id="3" name="Content Placeholder 2">
            <a:extLst>
              <a:ext uri="{FF2B5EF4-FFF2-40B4-BE49-F238E27FC236}">
                <a16:creationId xmlns:a16="http://schemas.microsoft.com/office/drawing/2014/main" id="{28041048-8810-B3C1-9C57-0E0FCB417D88}"/>
              </a:ext>
            </a:extLst>
          </p:cNvPr>
          <p:cNvSpPr>
            <a:spLocks noGrp="1"/>
          </p:cNvSpPr>
          <p:nvPr>
            <p:ph idx="1"/>
          </p:nvPr>
        </p:nvSpPr>
        <p:spPr>
          <a:xfrm>
            <a:off x="838200" y="3342001"/>
            <a:ext cx="10515600" cy="2834962"/>
          </a:xfrm>
        </p:spPr>
        <p:txBody>
          <a:bodyPr wrap="square" lIns="73152" tIns="36576" rIns="73152" bIns="36576" anchor="ctr">
            <a:normAutofit/>
          </a:bodyPr>
          <a:lstStyle/>
          <a:p>
            <a:pPr>
              <a:spcAft>
                <a:spcPts val="600"/>
              </a:spcAft>
            </a:pPr>
            <a:r>
              <a:rPr lang="en-US" sz="1800" dirty="0"/>
              <a:t>Number of clusters need not be specified beforehand.</a:t>
            </a:r>
          </a:p>
          <a:p>
            <a:pPr>
              <a:spcAft>
                <a:spcPts val="600"/>
              </a:spcAft>
            </a:pPr>
            <a:r>
              <a:rPr lang="en-IN" sz="1800" dirty="0"/>
              <a:t>Automatically identifies representative data points (exemplars).</a:t>
            </a:r>
          </a:p>
          <a:p>
            <a:pPr>
              <a:spcAft>
                <a:spcPts val="600"/>
              </a:spcAft>
            </a:pPr>
            <a:r>
              <a:rPr lang="en-US" sz="1800" dirty="0"/>
              <a:t>Can work directly with similarity information.</a:t>
            </a:r>
          </a:p>
          <a:p>
            <a:pPr>
              <a:spcAft>
                <a:spcPts val="600"/>
              </a:spcAft>
            </a:pPr>
            <a:r>
              <a:rPr lang="en-US" sz="1800" dirty="0"/>
              <a:t>Can identify useful cluster structures</a:t>
            </a:r>
          </a:p>
          <a:p>
            <a:pPr>
              <a:spcAft>
                <a:spcPts val="600"/>
              </a:spcAft>
            </a:pPr>
            <a:r>
              <a:rPr lang="en-US" sz="1800" dirty="0"/>
              <a:t>Makes clusters easier to interpret using exemplars</a:t>
            </a:r>
          </a:p>
          <a:p>
            <a:pPr>
              <a:spcAft>
                <a:spcPts val="600"/>
              </a:spcAft>
            </a:pPr>
            <a:r>
              <a:rPr lang="en-IN" sz="1800" dirty="0"/>
              <a:t>Useful for moderate-sized datasets.</a:t>
            </a:r>
            <a:endParaRPr lang="en-US" sz="1800" dirty="0"/>
          </a:p>
          <a:p>
            <a:pPr>
              <a:spcAft>
                <a:spcPts val="600"/>
              </a:spcAft>
            </a:pPr>
            <a:endParaRPr lang="en-US" sz="1800" dirty="0"/>
          </a:p>
          <a:p>
            <a:pPr>
              <a:spcAft>
                <a:spcPts val="600"/>
              </a:spcAft>
            </a:pPr>
            <a:endParaRPr lang="en-IN" sz="1800" dirty="0"/>
          </a:p>
          <a:p>
            <a:pPr>
              <a:spcAft>
                <a:spcPts val="600"/>
              </a:spcAft>
            </a:pPr>
            <a:endParaRPr lang="en-IN" sz="1800" dirty="0"/>
          </a:p>
          <a:p>
            <a:pPr>
              <a:spcAft>
                <a:spcPts val="600"/>
              </a:spcAft>
            </a:pPr>
            <a:endParaRPr lang="en-US" sz="1800" dirty="0"/>
          </a:p>
          <a:p>
            <a:pPr>
              <a:spcAft>
                <a:spcPts val="600"/>
              </a:spcAft>
            </a:pPr>
            <a:endParaRPr lang="en-US" sz="1800" dirty="0"/>
          </a:p>
          <a:p>
            <a:pPr>
              <a:spcAft>
                <a:spcPts val="600"/>
              </a:spcAft>
            </a:pPr>
            <a:endParaRPr lang="en-IN" sz="1800" dirty="0">
              <a:solidFill>
                <a:srgbClr val="2D3744"/>
              </a:solidFill>
              <a:latin typeface="Aptos"/>
            </a:endParaRPr>
          </a:p>
          <a:p>
            <a:pPr>
              <a:spcAft>
                <a:spcPts val="600"/>
              </a:spcAft>
            </a:pPr>
            <a:endParaRPr lang="en-IN" dirty="0"/>
          </a:p>
        </p:txBody>
      </p:sp>
      <p:sp>
        <p:nvSpPr>
          <p:cNvPr id="4" name="Rectangle 3">
            <a:extLst>
              <a:ext uri="{FF2B5EF4-FFF2-40B4-BE49-F238E27FC236}">
                <a16:creationId xmlns:a16="http://schemas.microsoft.com/office/drawing/2014/main" id="{F98CD3E0-9BB4-826E-87F3-52874DF923B6}"/>
              </a:ext>
            </a:extLst>
          </p:cNvPr>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4E95D718-BFD4-5B99-3F86-C4C730D7627D}"/>
              </a:ext>
            </a:extLst>
          </p:cNvPr>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6D90FC73-2D49-39FC-EBAA-BEAB556B3854}"/>
              </a:ext>
            </a:extLst>
          </p:cNvPr>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a:extLst>
              <a:ext uri="{FF2B5EF4-FFF2-40B4-BE49-F238E27FC236}">
                <a16:creationId xmlns:a16="http://schemas.microsoft.com/office/drawing/2014/main" id="{5C3BE39A-367F-089F-4721-939E4D07E4BD}"/>
              </a:ext>
            </a:extLst>
          </p:cNvPr>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09</a:t>
            </a:r>
          </a:p>
        </p:txBody>
      </p:sp>
    </p:spTree>
    <p:extLst>
      <p:ext uri="{BB962C8B-B14F-4D97-AF65-F5344CB8AC3E}">
        <p14:creationId xmlns:p14="http://schemas.microsoft.com/office/powerpoint/2010/main" val="3665411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61C534B-1469-0284-17C9-7259B966F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4FE1D-6467-0C82-1766-BB628964DBE7}"/>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Disadvantages</a:t>
            </a:r>
            <a:endParaRPr lang="en-IN" dirty="0"/>
          </a:p>
        </p:txBody>
      </p:sp>
      <p:sp>
        <p:nvSpPr>
          <p:cNvPr id="3" name="Content Placeholder 2">
            <a:extLst>
              <a:ext uri="{FF2B5EF4-FFF2-40B4-BE49-F238E27FC236}">
                <a16:creationId xmlns:a16="http://schemas.microsoft.com/office/drawing/2014/main" id="{AFB0D3C2-3CA5-7BA4-F34E-261E977CB9B3}"/>
              </a:ext>
            </a:extLst>
          </p:cNvPr>
          <p:cNvSpPr>
            <a:spLocks noGrp="1"/>
          </p:cNvSpPr>
          <p:nvPr>
            <p:ph idx="1"/>
          </p:nvPr>
        </p:nvSpPr>
        <p:spPr>
          <a:xfrm>
            <a:off x="944880" y="2367700"/>
            <a:ext cx="10515600" cy="2834962"/>
          </a:xfrm>
        </p:spPr>
        <p:txBody>
          <a:bodyPr wrap="square" lIns="73152" tIns="36576" rIns="73152" bIns="36576" anchor="ctr">
            <a:normAutofit fontScale="92500" lnSpcReduction="10000"/>
          </a:bodyPr>
          <a:lstStyle/>
          <a:p>
            <a:pPr>
              <a:spcAft>
                <a:spcPts val="600"/>
              </a:spcAft>
            </a:pPr>
            <a:r>
              <a:rPr lang="en-US" sz="1800" dirty="0">
                <a:solidFill>
                  <a:srgbClr val="2D3744"/>
                </a:solidFill>
              </a:rPr>
              <a:t>Computationally expensive for large datasets.</a:t>
            </a:r>
          </a:p>
          <a:p>
            <a:pPr>
              <a:spcAft>
                <a:spcPts val="600"/>
              </a:spcAft>
            </a:pPr>
            <a:r>
              <a:rPr lang="en-US" sz="1800" dirty="0">
                <a:solidFill>
                  <a:srgbClr val="2D3744"/>
                </a:solidFill>
              </a:rPr>
              <a:t>Can require high memory because of pairwise similarities.</a:t>
            </a:r>
          </a:p>
          <a:p>
            <a:pPr>
              <a:spcAft>
                <a:spcPts val="600"/>
              </a:spcAft>
            </a:pPr>
            <a:r>
              <a:rPr lang="en-US" sz="1800" dirty="0">
                <a:solidFill>
                  <a:srgbClr val="2D3744"/>
                </a:solidFill>
              </a:rPr>
              <a:t>Sensitive to the preference parameter.</a:t>
            </a:r>
          </a:p>
          <a:p>
            <a:pPr>
              <a:spcAft>
                <a:spcPts val="600"/>
              </a:spcAft>
            </a:pPr>
            <a:r>
              <a:rPr lang="en-US" sz="1800" dirty="0">
                <a:solidFill>
                  <a:srgbClr val="2D3744"/>
                </a:solidFill>
              </a:rPr>
              <a:t>Sensitive to the damping parameter.</a:t>
            </a:r>
          </a:p>
          <a:p>
            <a:pPr>
              <a:spcAft>
                <a:spcPts val="600"/>
              </a:spcAft>
            </a:pPr>
            <a:r>
              <a:rPr lang="en-US" sz="1800" dirty="0">
                <a:solidFill>
                  <a:srgbClr val="2D3744"/>
                </a:solidFill>
              </a:rPr>
              <a:t>May require many iterations to converge.</a:t>
            </a:r>
          </a:p>
          <a:p>
            <a:pPr>
              <a:spcAft>
                <a:spcPts val="600"/>
              </a:spcAft>
            </a:pPr>
            <a:r>
              <a:rPr lang="en-US" sz="1800" dirty="0">
                <a:solidFill>
                  <a:srgbClr val="2D3744"/>
                </a:solidFill>
              </a:rPr>
              <a:t>Results depend on the quality of the similarity measure.</a:t>
            </a:r>
          </a:p>
          <a:p>
            <a:pPr>
              <a:spcAft>
                <a:spcPts val="600"/>
              </a:spcAft>
            </a:pPr>
            <a:r>
              <a:rPr lang="en-US" sz="1800" dirty="0">
                <a:solidFill>
                  <a:srgbClr val="2D3744"/>
                </a:solidFill>
              </a:rPr>
              <a:t>Not suitable for very large datasets.</a:t>
            </a:r>
            <a:endParaRPr lang="en-US" sz="1800" dirty="0"/>
          </a:p>
          <a:p>
            <a:pPr>
              <a:spcAft>
                <a:spcPts val="600"/>
              </a:spcAft>
            </a:pPr>
            <a:endParaRPr lang="en-IN" sz="1800" dirty="0">
              <a:solidFill>
                <a:srgbClr val="2D3744"/>
              </a:solidFill>
              <a:latin typeface="Aptos"/>
            </a:endParaRPr>
          </a:p>
          <a:p>
            <a:pPr>
              <a:spcAft>
                <a:spcPts val="600"/>
              </a:spcAft>
            </a:pPr>
            <a:endParaRPr lang="en-IN" dirty="0"/>
          </a:p>
        </p:txBody>
      </p:sp>
      <p:sp>
        <p:nvSpPr>
          <p:cNvPr id="4" name="Rectangle 3">
            <a:extLst>
              <a:ext uri="{FF2B5EF4-FFF2-40B4-BE49-F238E27FC236}">
                <a16:creationId xmlns:a16="http://schemas.microsoft.com/office/drawing/2014/main" id="{A0B4F8A7-ACB5-4234-E096-935046B70437}"/>
              </a:ext>
            </a:extLst>
          </p:cNvPr>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94BF2376-6638-E2F2-51CB-BA49424F081E}"/>
              </a:ext>
            </a:extLst>
          </p:cNvPr>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64C5AF4-5943-17C6-D5B1-EFB647FADF9C}"/>
              </a:ext>
            </a:extLst>
          </p:cNvPr>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a:extLst>
              <a:ext uri="{FF2B5EF4-FFF2-40B4-BE49-F238E27FC236}">
                <a16:creationId xmlns:a16="http://schemas.microsoft.com/office/drawing/2014/main" id="{5246A6D7-931E-E328-01E0-513FD7CF2A0F}"/>
              </a:ext>
            </a:extLst>
          </p:cNvPr>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09</a:t>
            </a:r>
          </a:p>
        </p:txBody>
      </p:sp>
    </p:spTree>
    <p:extLst>
      <p:ext uri="{BB962C8B-B14F-4D97-AF65-F5344CB8AC3E}">
        <p14:creationId xmlns:p14="http://schemas.microsoft.com/office/powerpoint/2010/main" val="3566969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BF5EF-8FCC-CB5A-344E-B4F839AD2216}"/>
              </a:ext>
            </a:extLst>
          </p:cNvPr>
          <p:cNvSpPr>
            <a:spLocks noGrp="1"/>
          </p:cNvSpPr>
          <p:nvPr>
            <p:ph type="title"/>
          </p:nvPr>
        </p:nvSpPr>
        <p:spPr>
          <a:xfrm>
            <a:off x="7195456" y="365125"/>
            <a:ext cx="4158344" cy="1325563"/>
          </a:xfrm>
        </p:spPr>
        <p:txBody>
          <a:bodyPr wrap="square" lIns="73152" tIns="36576" rIns="73152" bIns="36576" anchor="ctr"/>
          <a:lstStyle/>
          <a:p>
            <a:pPr algn="l">
              <a:spcAft>
                <a:spcPts val="600"/>
              </a:spcAft>
            </a:pPr>
            <a:r>
              <a:rPr lang="en-IN" sz="2800" b="1" dirty="0">
                <a:solidFill>
                  <a:srgbClr val="123054"/>
                </a:solidFill>
                <a:latin typeface="Aptos"/>
              </a:rPr>
              <a:t>Mean Shift</a:t>
            </a:r>
          </a:p>
        </p:txBody>
      </p:sp>
      <p:sp>
        <p:nvSpPr>
          <p:cNvPr id="3" name="Content Placeholder 2">
            <a:extLst>
              <a:ext uri="{FF2B5EF4-FFF2-40B4-BE49-F238E27FC236}">
                <a16:creationId xmlns:a16="http://schemas.microsoft.com/office/drawing/2014/main" id="{01165A68-D073-E930-BC01-3D9D81A4850D}"/>
              </a:ext>
            </a:extLst>
          </p:cNvPr>
          <p:cNvSpPr>
            <a:spLocks noGrp="1"/>
          </p:cNvSpPr>
          <p:nvPr>
            <p:ph idx="1"/>
          </p:nvPr>
        </p:nvSpPr>
        <p:spPr>
          <a:xfrm>
            <a:off x="7195456" y="1825625"/>
            <a:ext cx="4158343" cy="4351338"/>
          </a:xfrm>
        </p:spPr>
        <p:txBody>
          <a:bodyPr wrap="square" lIns="73152" tIns="36576" rIns="73152" bIns="36576" anchor="ctr"/>
          <a:lstStyle/>
          <a:p>
            <a:pPr marL="0" indent="0" algn="just">
              <a:lnSpc>
                <a:spcPct val="150000"/>
              </a:lnSpc>
              <a:spcAft>
                <a:spcPts val="600"/>
              </a:spcAft>
              <a:buNone/>
            </a:pPr>
            <a:r>
              <a:rPr lang="en-IN" sz="1800" dirty="0">
                <a:solidFill>
                  <a:srgbClr val="2D3744"/>
                </a:solidFill>
                <a:latin typeface="Aptos"/>
              </a:rPr>
              <a:t>	</a:t>
            </a:r>
            <a:r>
              <a:rPr lang="en-IN" sz="1800" b="1" dirty="0">
                <a:solidFill>
                  <a:srgbClr val="2D3744"/>
                </a:solidFill>
                <a:latin typeface="Aptos"/>
              </a:rPr>
              <a:t>Mean Shift </a:t>
            </a:r>
            <a:r>
              <a:rPr lang="en-IN" sz="1800" dirty="0">
                <a:solidFill>
                  <a:srgbClr val="2D3744"/>
                </a:solidFill>
                <a:latin typeface="Aptos"/>
              </a:rPr>
              <a:t>is an unsupervised machine learning clustering algorithm that identifies dense regions in a dataset by repeatedly shifting a window toward the mean of nearby data points. The process continues until a density peak or mode is reached, and points converging to the same mode are grouped into the same cluster.</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07</a:t>
            </a:r>
          </a:p>
        </p:txBody>
      </p:sp>
      <p:pic>
        <p:nvPicPr>
          <p:cNvPr id="9" name="Picture 8">
            <a:extLst>
              <a:ext uri="{FF2B5EF4-FFF2-40B4-BE49-F238E27FC236}">
                <a16:creationId xmlns:a16="http://schemas.microsoft.com/office/drawing/2014/main" id="{8EB27482-1A34-DF3B-55AD-23D888BF1490}"/>
              </a:ext>
            </a:extLst>
          </p:cNvPr>
          <p:cNvPicPr>
            <a:picLocks noChangeAspect="1"/>
          </p:cNvPicPr>
          <p:nvPr/>
        </p:nvPicPr>
        <p:blipFill>
          <a:blip r:embed="rId2"/>
          <a:srcRect l="18178"/>
          <a:stretch>
            <a:fillRect/>
          </a:stretch>
        </p:blipFill>
        <p:spPr>
          <a:xfrm>
            <a:off x="12193" y="10"/>
            <a:ext cx="7085294" cy="685799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noFill/>
        </p:spPr>
      </p:pic>
    </p:spTree>
    <p:extLst>
      <p:ext uri="{BB962C8B-B14F-4D97-AF65-F5344CB8AC3E}">
        <p14:creationId xmlns:p14="http://schemas.microsoft.com/office/powerpoint/2010/main" val="3815871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7B322-CBDE-F1E2-D5D7-52BDAE0CDF22}"/>
              </a:ext>
            </a:extLst>
          </p:cNvPr>
          <p:cNvSpPr>
            <a:spLocks noGrp="1"/>
          </p:cNvSpPr>
          <p:nvPr>
            <p:ph type="title"/>
          </p:nvPr>
        </p:nvSpPr>
        <p:spPr/>
        <p:txBody>
          <a:bodyPr wrap="square" lIns="73152" tIns="36576" rIns="73152" bIns="36576" anchor="ctr"/>
          <a:lstStyle/>
          <a:p>
            <a:pPr algn="l">
              <a:spcAft>
                <a:spcPts val="600"/>
              </a:spcAft>
            </a:pPr>
            <a:r>
              <a:rPr lang="en-IN" sz="2800" b="1" dirty="0" err="1">
                <a:solidFill>
                  <a:srgbClr val="123054"/>
                </a:solidFill>
                <a:latin typeface="Aptos"/>
              </a:rPr>
              <a:t>MeanShift</a:t>
            </a:r>
            <a:r>
              <a:rPr lang="en-IN" sz="2800" b="1" dirty="0">
                <a:solidFill>
                  <a:srgbClr val="123054"/>
                </a:solidFill>
                <a:latin typeface="Aptos"/>
              </a:rPr>
              <a:t> – Venn Diagram</a:t>
            </a:r>
          </a:p>
        </p:txBody>
      </p:sp>
      <p:pic>
        <p:nvPicPr>
          <p:cNvPr id="6" name="Content Placeholder 5">
            <a:extLst>
              <a:ext uri="{FF2B5EF4-FFF2-40B4-BE49-F238E27FC236}">
                <a16:creationId xmlns:a16="http://schemas.microsoft.com/office/drawing/2014/main" id="{7F8B5C2E-DF34-39E0-6C00-4BB5DC0EBE2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111830"/>
            <a:ext cx="4683245" cy="3614056"/>
          </a:xfrm>
          <a:prstGeom prst="rect">
            <a:avLst/>
          </a:prstGeom>
        </p:spPr>
      </p:pic>
      <p:pic>
        <p:nvPicPr>
          <p:cNvPr id="8" name="Content Placeholder 7">
            <a:extLst>
              <a:ext uri="{FF2B5EF4-FFF2-40B4-BE49-F238E27FC236}">
                <a16:creationId xmlns:a16="http://schemas.microsoft.com/office/drawing/2014/main" id="{F2F4839E-84BC-9EA4-DE5E-F5417AC90D5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911076"/>
            <a:ext cx="5181600" cy="4180435"/>
          </a:xfrm>
          <a:prstGeom prst="rect">
            <a:avLst/>
          </a:prstGeom>
        </p:spPr>
      </p:pic>
      <p:sp>
        <p:nvSpPr>
          <p:cNvPr id="9" name="Rectangle 8"/>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12" name="TextBox 11"/>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08</a:t>
            </a:r>
          </a:p>
        </p:txBody>
      </p:sp>
    </p:spTree>
    <p:extLst>
      <p:ext uri="{BB962C8B-B14F-4D97-AF65-F5344CB8AC3E}">
        <p14:creationId xmlns:p14="http://schemas.microsoft.com/office/powerpoint/2010/main" val="2592879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EAD84-C591-7FDB-4D6A-674F4F061C47}"/>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Steps to work in </a:t>
            </a:r>
            <a:r>
              <a:rPr lang="en-US" sz="2800" b="1" dirty="0" err="1">
                <a:solidFill>
                  <a:srgbClr val="123054"/>
                </a:solidFill>
                <a:latin typeface="Aptos"/>
              </a:rPr>
              <a:t>MeanShift</a:t>
            </a:r>
            <a:endParaRPr lang="en-IN" dirty="0"/>
          </a:p>
        </p:txBody>
      </p:sp>
      <p:sp>
        <p:nvSpPr>
          <p:cNvPr id="3" name="Content Placeholder 2">
            <a:extLst>
              <a:ext uri="{FF2B5EF4-FFF2-40B4-BE49-F238E27FC236}">
                <a16:creationId xmlns:a16="http://schemas.microsoft.com/office/drawing/2014/main" id="{61A56828-CC59-B824-7236-651866DB842E}"/>
              </a:ext>
            </a:extLst>
          </p:cNvPr>
          <p:cNvSpPr>
            <a:spLocks noGrp="1"/>
          </p:cNvSpPr>
          <p:nvPr>
            <p:ph idx="1"/>
          </p:nvPr>
        </p:nvSpPr>
        <p:spPr/>
        <p:txBody>
          <a:bodyPr wrap="square" lIns="73152" tIns="36576" rIns="73152" bIns="36576" anchor="ctr">
            <a:normAutofit/>
          </a:bodyPr>
          <a:lstStyle/>
          <a:p>
            <a:pPr>
              <a:spcAft>
                <a:spcPts val="600"/>
              </a:spcAft>
            </a:pPr>
            <a:r>
              <a:rPr lang="en-IN" sz="1800" dirty="0">
                <a:solidFill>
                  <a:srgbClr val="2D3744"/>
                </a:solidFill>
                <a:latin typeface="Aptos"/>
              </a:rPr>
              <a:t>Data Points</a:t>
            </a:r>
          </a:p>
          <a:p>
            <a:pPr>
              <a:spcAft>
                <a:spcPts val="600"/>
              </a:spcAft>
            </a:pPr>
            <a:r>
              <a:rPr lang="en-IN" sz="1800" dirty="0">
                <a:solidFill>
                  <a:srgbClr val="2D3744"/>
                </a:solidFill>
                <a:latin typeface="Aptos"/>
              </a:rPr>
              <a:t>Select a point</a:t>
            </a:r>
          </a:p>
          <a:p>
            <a:pPr>
              <a:spcAft>
                <a:spcPts val="600"/>
              </a:spcAft>
            </a:pPr>
            <a:r>
              <a:rPr lang="en-IN" sz="1800" dirty="0">
                <a:solidFill>
                  <a:srgbClr val="2D3744"/>
                </a:solidFill>
                <a:latin typeface="Aptos"/>
              </a:rPr>
              <a:t>Create a window around the point</a:t>
            </a:r>
          </a:p>
          <a:p>
            <a:pPr>
              <a:spcAft>
                <a:spcPts val="600"/>
              </a:spcAft>
            </a:pPr>
            <a:r>
              <a:rPr lang="en-IN" sz="1800" dirty="0">
                <a:solidFill>
                  <a:srgbClr val="2D3744"/>
                </a:solidFill>
                <a:latin typeface="Aptos"/>
              </a:rPr>
              <a:t>Calculate the mean of points inside the window</a:t>
            </a:r>
          </a:p>
          <a:p>
            <a:pPr>
              <a:spcAft>
                <a:spcPts val="600"/>
              </a:spcAft>
            </a:pPr>
            <a:r>
              <a:rPr lang="en-IN" sz="1800" dirty="0">
                <a:solidFill>
                  <a:srgbClr val="2D3744"/>
                </a:solidFill>
                <a:latin typeface="Aptos"/>
              </a:rPr>
              <a:t>Move the window toward the mean</a:t>
            </a:r>
          </a:p>
          <a:p>
            <a:pPr>
              <a:spcAft>
                <a:spcPts val="600"/>
              </a:spcAft>
            </a:pPr>
            <a:r>
              <a:rPr lang="en-IN" sz="1800" dirty="0">
                <a:solidFill>
                  <a:srgbClr val="2D3744"/>
                </a:solidFill>
                <a:latin typeface="Aptos"/>
              </a:rPr>
              <a:t>Repeat the process</a:t>
            </a:r>
          </a:p>
          <a:p>
            <a:pPr>
              <a:spcAft>
                <a:spcPts val="600"/>
              </a:spcAft>
            </a:pPr>
            <a:r>
              <a:rPr lang="en-IN" sz="1800" dirty="0">
                <a:solidFill>
                  <a:srgbClr val="2D3744"/>
                </a:solidFill>
                <a:latin typeface="Aptos"/>
              </a:rPr>
              <a:t>Reach a density peak (mode)</a:t>
            </a:r>
          </a:p>
          <a:p>
            <a:pPr>
              <a:spcAft>
                <a:spcPts val="600"/>
              </a:spcAft>
            </a:pPr>
            <a:r>
              <a:rPr lang="en-IN" sz="1800" dirty="0">
                <a:solidFill>
                  <a:srgbClr val="2D3744"/>
                </a:solidFill>
                <a:latin typeface="Aptos"/>
              </a:rPr>
              <a:t>Group points reaching the same peak</a:t>
            </a:r>
          </a:p>
          <a:p>
            <a:pPr>
              <a:spcAft>
                <a:spcPts val="600"/>
              </a:spcAft>
            </a:pPr>
            <a:r>
              <a:rPr lang="en-IN" sz="1800" dirty="0">
                <a:solidFill>
                  <a:srgbClr val="2D3744"/>
                </a:solidFill>
                <a:latin typeface="Aptos"/>
              </a:rPr>
              <a:t>Final clusters</a:t>
            </a:r>
          </a:p>
          <a:p>
            <a:pPr>
              <a:spcAft>
                <a:spcPts val="600"/>
              </a:spcAft>
            </a:pPr>
            <a:endParaRPr lang="en-IN" dirty="0"/>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09</a:t>
            </a:r>
          </a:p>
        </p:txBody>
      </p:sp>
    </p:spTree>
    <p:extLst>
      <p:ext uri="{BB962C8B-B14F-4D97-AF65-F5344CB8AC3E}">
        <p14:creationId xmlns:p14="http://schemas.microsoft.com/office/powerpoint/2010/main" val="1044123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F2C51-E50E-61CE-B9F5-1221D7F31A67}"/>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Advantages</a:t>
            </a:r>
            <a:endParaRPr lang="en-IN" dirty="0"/>
          </a:p>
        </p:txBody>
      </p:sp>
      <p:sp>
        <p:nvSpPr>
          <p:cNvPr id="3" name="Content Placeholder 2">
            <a:extLst>
              <a:ext uri="{FF2B5EF4-FFF2-40B4-BE49-F238E27FC236}">
                <a16:creationId xmlns:a16="http://schemas.microsoft.com/office/drawing/2014/main" id="{9CBE7DB0-B809-4BB8-70A6-18832333C530}"/>
              </a:ext>
            </a:extLst>
          </p:cNvPr>
          <p:cNvSpPr>
            <a:spLocks noGrp="1"/>
          </p:cNvSpPr>
          <p:nvPr>
            <p:ph idx="1"/>
          </p:nvPr>
        </p:nvSpPr>
        <p:spPr>
          <a:xfrm>
            <a:off x="838200" y="1509939"/>
            <a:ext cx="10515600" cy="4351338"/>
          </a:xfrm>
        </p:spPr>
        <p:txBody>
          <a:bodyPr wrap="square" lIns="73152" tIns="36576" rIns="73152" bIns="36576" anchor="ctr"/>
          <a:lstStyle/>
          <a:p>
            <a:pPr>
              <a:spcAft>
                <a:spcPts val="600"/>
              </a:spcAft>
            </a:pPr>
            <a:r>
              <a:rPr lang="en-IN" sz="1800" dirty="0">
                <a:solidFill>
                  <a:srgbClr val="2D3744"/>
                </a:solidFill>
                <a:latin typeface="Aptos"/>
              </a:rPr>
              <a:t>Number of clusters need not be specified beforehand.</a:t>
            </a:r>
          </a:p>
          <a:p>
            <a:pPr>
              <a:spcAft>
                <a:spcPts val="600"/>
              </a:spcAft>
            </a:pPr>
            <a:r>
              <a:rPr lang="en-IN" sz="1800" dirty="0">
                <a:solidFill>
                  <a:srgbClr val="2D3744"/>
                </a:solidFill>
                <a:latin typeface="Aptos"/>
              </a:rPr>
              <a:t>Finds clusters based on data density.</a:t>
            </a:r>
          </a:p>
          <a:p>
            <a:pPr>
              <a:spcAft>
                <a:spcPts val="600"/>
              </a:spcAft>
            </a:pPr>
            <a:r>
              <a:rPr lang="en-IN" sz="1800" dirty="0">
                <a:solidFill>
                  <a:srgbClr val="2D3744"/>
                </a:solidFill>
                <a:latin typeface="Aptos"/>
              </a:rPr>
              <a:t>Can identify irregularly shaped clusters.</a:t>
            </a:r>
          </a:p>
          <a:p>
            <a:pPr>
              <a:spcAft>
                <a:spcPts val="600"/>
              </a:spcAft>
            </a:pPr>
            <a:r>
              <a:rPr lang="en-IN" sz="1800" dirty="0">
                <a:solidFill>
                  <a:srgbClr val="2D3744"/>
                </a:solidFill>
                <a:latin typeface="Aptos"/>
              </a:rPr>
              <a:t>Automatically determines cluster </a:t>
            </a:r>
            <a:r>
              <a:rPr lang="en-IN" sz="1800" dirty="0" err="1">
                <a:solidFill>
                  <a:srgbClr val="2D3744"/>
                </a:solidFill>
                <a:latin typeface="Aptos"/>
              </a:rPr>
              <a:t>centers</a:t>
            </a:r>
            <a:r>
              <a:rPr lang="en-IN" sz="1800" dirty="0">
                <a:solidFill>
                  <a:srgbClr val="2D3744"/>
                </a:solidFill>
                <a:latin typeface="Aptos"/>
              </a:rPr>
              <a:t>.</a:t>
            </a:r>
          </a:p>
          <a:p>
            <a:pPr>
              <a:spcAft>
                <a:spcPts val="600"/>
              </a:spcAft>
            </a:pPr>
            <a:r>
              <a:rPr lang="en-IN" sz="1800" dirty="0">
                <a:solidFill>
                  <a:srgbClr val="2D3744"/>
                </a:solidFill>
                <a:latin typeface="Aptos"/>
              </a:rPr>
              <a:t>Useful for exploratory data analysis.</a:t>
            </a:r>
          </a:p>
          <a:p>
            <a:pPr>
              <a:spcAft>
                <a:spcPts val="600"/>
              </a:spcAft>
            </a:pPr>
            <a:r>
              <a:rPr lang="en-IN" sz="1800" dirty="0">
                <a:solidFill>
                  <a:srgbClr val="2D3744"/>
                </a:solidFill>
                <a:latin typeface="Aptos"/>
              </a:rPr>
              <a:t>Can identify isolated/outlying observations.</a:t>
            </a:r>
          </a:p>
          <a:p>
            <a:pPr>
              <a:spcAft>
                <a:spcPts val="600"/>
              </a:spcAft>
            </a:pPr>
            <a:r>
              <a:rPr lang="en-IN" sz="1800" dirty="0">
                <a:solidFill>
                  <a:srgbClr val="2D3744"/>
                </a:solidFill>
                <a:latin typeface="Aptos"/>
              </a:rPr>
              <a:t>Simple density-based concept.</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10</a:t>
            </a:r>
          </a:p>
        </p:txBody>
      </p:sp>
    </p:spTree>
    <p:extLst>
      <p:ext uri="{BB962C8B-B14F-4D97-AF65-F5344CB8AC3E}">
        <p14:creationId xmlns:p14="http://schemas.microsoft.com/office/powerpoint/2010/main" val="3028968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DA55AE-E52D-E930-E9EF-842F282DB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6E8540-8635-7FEE-71F0-65F02650E1EA}"/>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Disadvantages</a:t>
            </a:r>
            <a:endParaRPr lang="en-IN" dirty="0"/>
          </a:p>
        </p:txBody>
      </p:sp>
      <p:sp>
        <p:nvSpPr>
          <p:cNvPr id="3" name="Content Placeholder 2">
            <a:extLst>
              <a:ext uri="{FF2B5EF4-FFF2-40B4-BE49-F238E27FC236}">
                <a16:creationId xmlns:a16="http://schemas.microsoft.com/office/drawing/2014/main" id="{E684176D-78ED-8D94-6184-ADC98AAEF8FD}"/>
              </a:ext>
            </a:extLst>
          </p:cNvPr>
          <p:cNvSpPr>
            <a:spLocks noGrp="1"/>
          </p:cNvSpPr>
          <p:nvPr>
            <p:ph idx="1"/>
          </p:nvPr>
        </p:nvSpPr>
        <p:spPr>
          <a:xfrm>
            <a:off x="944880" y="1586139"/>
            <a:ext cx="10515600" cy="4194002"/>
          </a:xfrm>
        </p:spPr>
        <p:txBody>
          <a:bodyPr wrap="square" lIns="73152" tIns="36576" rIns="73152" bIns="36576" anchor="ctr"/>
          <a:lstStyle/>
          <a:p>
            <a:pPr>
              <a:spcAft>
                <a:spcPts val="600"/>
              </a:spcAft>
            </a:pPr>
            <a:r>
              <a:rPr lang="en-IN" sz="1800" dirty="0">
                <a:solidFill>
                  <a:srgbClr val="2D3744"/>
                </a:solidFill>
                <a:latin typeface="Aptos"/>
              </a:rPr>
              <a:t>Computationally expensive.</a:t>
            </a:r>
          </a:p>
          <a:p>
            <a:pPr>
              <a:spcAft>
                <a:spcPts val="600"/>
              </a:spcAft>
            </a:pPr>
            <a:r>
              <a:rPr lang="en-IN" sz="1800" dirty="0">
                <a:solidFill>
                  <a:srgbClr val="2D3744"/>
                </a:solidFill>
                <a:latin typeface="Aptos"/>
              </a:rPr>
              <a:t>Sensitive to bandwidth selection.</a:t>
            </a:r>
          </a:p>
          <a:p>
            <a:pPr>
              <a:spcAft>
                <a:spcPts val="600"/>
              </a:spcAft>
            </a:pPr>
            <a:r>
              <a:rPr lang="en-IN" sz="1800" dirty="0">
                <a:solidFill>
                  <a:srgbClr val="2D3744"/>
                </a:solidFill>
                <a:latin typeface="Aptos"/>
              </a:rPr>
              <a:t>Not ideal for very large datasets.</a:t>
            </a:r>
          </a:p>
          <a:p>
            <a:pPr>
              <a:spcAft>
                <a:spcPts val="600"/>
              </a:spcAft>
            </a:pPr>
            <a:r>
              <a:rPr lang="en-IN" sz="1800" dirty="0">
                <a:solidFill>
                  <a:srgbClr val="2D3744"/>
                </a:solidFill>
                <a:latin typeface="Aptos"/>
              </a:rPr>
              <a:t>Can be slow to converge.</a:t>
            </a:r>
          </a:p>
          <a:p>
            <a:pPr>
              <a:spcAft>
                <a:spcPts val="600"/>
              </a:spcAft>
            </a:pPr>
            <a:r>
              <a:rPr lang="en-IN" sz="1800" dirty="0">
                <a:solidFill>
                  <a:srgbClr val="2D3744"/>
                </a:solidFill>
                <a:latin typeface="Aptos"/>
              </a:rPr>
              <a:t>Performance can decrease with high-dimensional data.</a:t>
            </a:r>
          </a:p>
          <a:p>
            <a:pPr>
              <a:spcAft>
                <a:spcPts val="600"/>
              </a:spcAft>
            </a:pPr>
            <a:r>
              <a:rPr lang="en-IN" sz="1800" dirty="0">
                <a:solidFill>
                  <a:srgbClr val="2D3744"/>
                </a:solidFill>
                <a:latin typeface="Aptos"/>
              </a:rPr>
              <a:t>Depends on the density structure of the dataset.</a:t>
            </a:r>
          </a:p>
          <a:p>
            <a:pPr>
              <a:spcAft>
                <a:spcPts val="600"/>
              </a:spcAft>
            </a:pPr>
            <a:r>
              <a:rPr lang="en-IN" sz="1800" dirty="0">
                <a:solidFill>
                  <a:srgbClr val="2D3744"/>
                </a:solidFill>
                <a:latin typeface="Aptos"/>
              </a:rPr>
              <a:t>Choosing a suitable bandwidth can be difficult.</a:t>
            </a:r>
            <a:endParaRPr lang="en-IN" dirty="0"/>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11</a:t>
            </a:r>
          </a:p>
        </p:txBody>
      </p:sp>
    </p:spTree>
    <p:extLst>
      <p:ext uri="{BB962C8B-B14F-4D97-AF65-F5344CB8AC3E}">
        <p14:creationId xmlns:p14="http://schemas.microsoft.com/office/powerpoint/2010/main" val="1801284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6C2BD-E7AC-6DDE-C2E6-8E52C15B05EC}"/>
              </a:ext>
            </a:extLst>
          </p:cNvPr>
          <p:cNvSpPr>
            <a:spLocks noGrp="1"/>
          </p:cNvSpPr>
          <p:nvPr>
            <p:ph type="title"/>
          </p:nvPr>
        </p:nvSpPr>
        <p:spPr>
          <a:xfrm>
            <a:off x="7493969" y="365125"/>
            <a:ext cx="3859830" cy="1325563"/>
          </a:xfrm>
        </p:spPr>
        <p:txBody>
          <a:bodyPr wrap="square" lIns="73152" tIns="36576" rIns="73152" bIns="36576" anchor="ctr"/>
          <a:lstStyle/>
          <a:p>
            <a:pPr algn="l">
              <a:spcAft>
                <a:spcPts val="600"/>
              </a:spcAft>
            </a:pPr>
            <a:r>
              <a:rPr lang="en-IN" sz="2800" b="1" dirty="0">
                <a:solidFill>
                  <a:srgbClr val="123054"/>
                </a:solidFill>
                <a:latin typeface="Aptos"/>
              </a:rPr>
              <a:t>Spectral Clustering</a:t>
            </a:r>
          </a:p>
        </p:txBody>
      </p:sp>
      <p:sp>
        <p:nvSpPr>
          <p:cNvPr id="3" name="Content Placeholder 2">
            <a:extLst>
              <a:ext uri="{FF2B5EF4-FFF2-40B4-BE49-F238E27FC236}">
                <a16:creationId xmlns:a16="http://schemas.microsoft.com/office/drawing/2014/main" id="{11B04003-9BD3-CC29-CE54-AB135237ACB9}"/>
              </a:ext>
            </a:extLst>
          </p:cNvPr>
          <p:cNvSpPr>
            <a:spLocks noGrp="1"/>
          </p:cNvSpPr>
          <p:nvPr>
            <p:ph idx="1"/>
          </p:nvPr>
        </p:nvSpPr>
        <p:spPr>
          <a:xfrm>
            <a:off x="7493968" y="1825625"/>
            <a:ext cx="3859831" cy="4351338"/>
          </a:xfrm>
        </p:spPr>
        <p:txBody>
          <a:bodyPr wrap="square" lIns="73152" tIns="36576" rIns="73152" bIns="36576" anchor="ctr"/>
          <a:lstStyle/>
          <a:p>
            <a:pPr marL="0" indent="0" algn="just">
              <a:lnSpc>
                <a:spcPct val="150000"/>
              </a:lnSpc>
              <a:spcAft>
                <a:spcPts val="600"/>
              </a:spcAft>
              <a:buNone/>
            </a:pPr>
            <a:r>
              <a:rPr lang="en-IN" sz="1800" b="1" dirty="0">
                <a:solidFill>
                  <a:srgbClr val="2D3744"/>
                </a:solidFill>
                <a:latin typeface="Aptos"/>
              </a:rPr>
              <a:t>	Spectral Clustering </a:t>
            </a:r>
            <a:r>
              <a:rPr lang="en-IN" sz="1800" dirty="0">
                <a:solidFill>
                  <a:srgbClr val="2D3744"/>
                </a:solidFill>
                <a:latin typeface="Aptos"/>
              </a:rPr>
              <a:t>is an unsupervised machine learning clustering algorithm that groups data points based on their similarity and connectivity. It constructs a similarity graph, uses eigenvectors of a graph-based matrix to transform the data, and then assigns the transformed data points to clusters.</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12</a:t>
            </a:r>
          </a:p>
        </p:txBody>
      </p:sp>
      <p:pic>
        <p:nvPicPr>
          <p:cNvPr id="9" name="Picture 8">
            <a:extLst>
              <a:ext uri="{FF2B5EF4-FFF2-40B4-BE49-F238E27FC236}">
                <a16:creationId xmlns:a16="http://schemas.microsoft.com/office/drawing/2014/main" id="{73ED64ED-D7CF-49B9-AE68-762685AC1780}"/>
              </a:ext>
            </a:extLst>
          </p:cNvPr>
          <p:cNvPicPr>
            <a:picLocks noChangeAspect="1"/>
          </p:cNvPicPr>
          <p:nvPr/>
        </p:nvPicPr>
        <p:blipFill>
          <a:blip r:embed="rId2"/>
          <a:srcRect l="18178"/>
          <a:stretch>
            <a:fillRect/>
          </a:stretch>
        </p:blipFill>
        <p:spPr>
          <a:xfrm>
            <a:off x="12192" y="10"/>
            <a:ext cx="7481777" cy="685799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noFill/>
        </p:spPr>
      </p:pic>
    </p:spTree>
    <p:extLst>
      <p:ext uri="{BB962C8B-B14F-4D97-AF65-F5344CB8AC3E}">
        <p14:creationId xmlns:p14="http://schemas.microsoft.com/office/powerpoint/2010/main" val="2044245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938E-ECAF-8BC3-C993-F4B9303AF64A}"/>
              </a:ext>
            </a:extLst>
          </p:cNvPr>
          <p:cNvSpPr>
            <a:spLocks noGrp="1"/>
          </p:cNvSpPr>
          <p:nvPr>
            <p:ph type="title"/>
          </p:nvPr>
        </p:nvSpPr>
        <p:spPr/>
        <p:txBody>
          <a:bodyPr wrap="square" lIns="73152" tIns="36576" rIns="73152" bIns="36576" anchor="ctr"/>
          <a:lstStyle/>
          <a:p>
            <a:pPr algn="l">
              <a:spcAft>
                <a:spcPts val="600"/>
              </a:spcAft>
            </a:pPr>
            <a:r>
              <a:rPr lang="en-IN" sz="2800" b="1" dirty="0">
                <a:solidFill>
                  <a:srgbClr val="123054"/>
                </a:solidFill>
                <a:latin typeface="Aptos"/>
              </a:rPr>
              <a:t>Spectral Clustering - Diagram</a:t>
            </a:r>
          </a:p>
        </p:txBody>
      </p:sp>
      <p:pic>
        <p:nvPicPr>
          <p:cNvPr id="6" name="Content Placeholder 5">
            <a:extLst>
              <a:ext uri="{FF2B5EF4-FFF2-40B4-BE49-F238E27FC236}">
                <a16:creationId xmlns:a16="http://schemas.microsoft.com/office/drawing/2014/main" id="{5C10BAE9-B759-F8DA-DF8B-2C19E3D9C68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306287" y="1579601"/>
            <a:ext cx="7206342" cy="4804228"/>
          </a:xfrm>
          <a:prstGeom prst="rect">
            <a:avLst/>
          </a:prstGeom>
        </p:spPr>
      </p:pic>
      <p:sp>
        <p:nvSpPr>
          <p:cNvPr id="7" name="Rectangle 6"/>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10" name="TextBox 9"/>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13</a:t>
            </a:r>
          </a:p>
        </p:txBody>
      </p:sp>
    </p:spTree>
    <p:extLst>
      <p:ext uri="{BB962C8B-B14F-4D97-AF65-F5344CB8AC3E}">
        <p14:creationId xmlns:p14="http://schemas.microsoft.com/office/powerpoint/2010/main" val="466477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237AD-3018-D85E-C75F-D1BD94189394}"/>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Steps to work in Spectral cluster</a:t>
            </a:r>
            <a:endParaRPr lang="en-IN" dirty="0"/>
          </a:p>
        </p:txBody>
      </p:sp>
      <p:sp>
        <p:nvSpPr>
          <p:cNvPr id="3" name="Content Placeholder 2">
            <a:extLst>
              <a:ext uri="{FF2B5EF4-FFF2-40B4-BE49-F238E27FC236}">
                <a16:creationId xmlns:a16="http://schemas.microsoft.com/office/drawing/2014/main" id="{0A74F97B-DD3C-75DF-13D0-21CF57D46952}"/>
              </a:ext>
            </a:extLst>
          </p:cNvPr>
          <p:cNvSpPr>
            <a:spLocks noGrp="1"/>
          </p:cNvSpPr>
          <p:nvPr>
            <p:ph idx="1"/>
          </p:nvPr>
        </p:nvSpPr>
        <p:spPr>
          <a:xfrm>
            <a:off x="838200" y="1690688"/>
            <a:ext cx="10515600" cy="4351338"/>
          </a:xfrm>
        </p:spPr>
        <p:txBody>
          <a:bodyPr wrap="square" lIns="73152" tIns="36576" rIns="73152" bIns="36576" anchor="ctr"/>
          <a:lstStyle/>
          <a:p>
            <a:pPr>
              <a:spcAft>
                <a:spcPts val="600"/>
              </a:spcAft>
            </a:pPr>
            <a:r>
              <a:rPr lang="en-IN" sz="1800" dirty="0">
                <a:solidFill>
                  <a:srgbClr val="2D3744"/>
                </a:solidFill>
                <a:latin typeface="Aptos"/>
              </a:rPr>
              <a:t>Input Data</a:t>
            </a:r>
          </a:p>
          <a:p>
            <a:pPr>
              <a:spcAft>
                <a:spcPts val="600"/>
              </a:spcAft>
            </a:pPr>
            <a:r>
              <a:rPr lang="en-IN" sz="1800" dirty="0">
                <a:solidFill>
                  <a:srgbClr val="2D3744"/>
                </a:solidFill>
                <a:latin typeface="Aptos"/>
              </a:rPr>
              <a:t>Calculate Similarity</a:t>
            </a:r>
          </a:p>
          <a:p>
            <a:pPr>
              <a:spcAft>
                <a:spcPts val="600"/>
              </a:spcAft>
            </a:pPr>
            <a:r>
              <a:rPr lang="en-IN" sz="1800" dirty="0">
                <a:solidFill>
                  <a:srgbClr val="2D3744"/>
                </a:solidFill>
                <a:latin typeface="Aptos"/>
              </a:rPr>
              <a:t>Create Similarity Graph</a:t>
            </a:r>
          </a:p>
          <a:p>
            <a:pPr>
              <a:spcAft>
                <a:spcPts val="600"/>
              </a:spcAft>
            </a:pPr>
            <a:r>
              <a:rPr lang="en-IN" sz="1800" dirty="0">
                <a:solidFill>
                  <a:srgbClr val="2D3744"/>
                </a:solidFill>
                <a:latin typeface="Aptos"/>
              </a:rPr>
              <a:t>Create Graph Laplacian</a:t>
            </a:r>
          </a:p>
          <a:p>
            <a:pPr>
              <a:spcAft>
                <a:spcPts val="600"/>
              </a:spcAft>
            </a:pPr>
            <a:r>
              <a:rPr lang="en-IN" sz="1800" dirty="0">
                <a:solidFill>
                  <a:srgbClr val="2D3744"/>
                </a:solidFill>
                <a:latin typeface="Aptos"/>
              </a:rPr>
              <a:t>Calculate Eigenvectors</a:t>
            </a:r>
          </a:p>
          <a:p>
            <a:pPr>
              <a:spcAft>
                <a:spcPts val="600"/>
              </a:spcAft>
            </a:pPr>
            <a:r>
              <a:rPr lang="en-IN" sz="1800" dirty="0">
                <a:solidFill>
                  <a:srgbClr val="2D3744"/>
                </a:solidFill>
                <a:latin typeface="Aptos"/>
              </a:rPr>
              <a:t>Transform data using eigenvectors</a:t>
            </a:r>
          </a:p>
          <a:p>
            <a:pPr>
              <a:spcAft>
                <a:spcPts val="600"/>
              </a:spcAft>
            </a:pPr>
            <a:r>
              <a:rPr lang="en-IN" sz="1800" dirty="0">
                <a:solidFill>
                  <a:srgbClr val="2D3744"/>
                </a:solidFill>
                <a:latin typeface="Aptos"/>
              </a:rPr>
              <a:t>Form Clusters</a:t>
            </a:r>
          </a:p>
          <a:p>
            <a:pPr>
              <a:spcAft>
                <a:spcPts val="600"/>
              </a:spcAft>
            </a:pPr>
            <a:r>
              <a:rPr lang="en-IN" sz="1800" dirty="0">
                <a:solidFill>
                  <a:srgbClr val="2D3744"/>
                </a:solidFill>
                <a:latin typeface="Aptos"/>
              </a:rPr>
              <a:t>Final Clusters</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14</a:t>
            </a:r>
          </a:p>
        </p:txBody>
      </p:sp>
    </p:spTree>
    <p:extLst>
      <p:ext uri="{BB962C8B-B14F-4D97-AF65-F5344CB8AC3E}">
        <p14:creationId xmlns:p14="http://schemas.microsoft.com/office/powerpoint/2010/main" val="1694438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2CF86-63C5-0A53-4B41-D7D97D3C8205}"/>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Advantages</a:t>
            </a:r>
            <a:endParaRPr lang="en-IN" dirty="0"/>
          </a:p>
        </p:txBody>
      </p:sp>
      <p:sp>
        <p:nvSpPr>
          <p:cNvPr id="3" name="Content Placeholder 2">
            <a:extLst>
              <a:ext uri="{FF2B5EF4-FFF2-40B4-BE49-F238E27FC236}">
                <a16:creationId xmlns:a16="http://schemas.microsoft.com/office/drawing/2014/main" id="{6AE42E66-53A2-051B-033C-93366759BC1F}"/>
              </a:ext>
            </a:extLst>
          </p:cNvPr>
          <p:cNvSpPr>
            <a:spLocks noGrp="1"/>
          </p:cNvSpPr>
          <p:nvPr>
            <p:ph idx="1"/>
          </p:nvPr>
        </p:nvSpPr>
        <p:spPr>
          <a:xfrm>
            <a:off x="838200" y="1825625"/>
            <a:ext cx="10515600" cy="3900174"/>
          </a:xfrm>
        </p:spPr>
        <p:txBody>
          <a:bodyPr wrap="square" lIns="73152" tIns="36576" rIns="73152" bIns="36576" anchor="ctr"/>
          <a:lstStyle/>
          <a:p>
            <a:pPr>
              <a:spcAft>
                <a:spcPts val="600"/>
              </a:spcAft>
            </a:pPr>
            <a:r>
              <a:rPr lang="en-IN" sz="1800" dirty="0">
                <a:solidFill>
                  <a:srgbClr val="2D3744"/>
                </a:solidFill>
                <a:latin typeface="Aptos"/>
              </a:rPr>
              <a:t>Can identify complex cluster structures.</a:t>
            </a:r>
          </a:p>
          <a:p>
            <a:pPr>
              <a:spcAft>
                <a:spcPts val="600"/>
              </a:spcAft>
            </a:pPr>
            <a:r>
              <a:rPr lang="en-IN" sz="1800" dirty="0">
                <a:solidFill>
                  <a:srgbClr val="2D3744"/>
                </a:solidFill>
                <a:latin typeface="Aptos"/>
              </a:rPr>
              <a:t>Uses relationships between data points.</a:t>
            </a:r>
          </a:p>
          <a:p>
            <a:pPr>
              <a:spcAft>
                <a:spcPts val="600"/>
              </a:spcAft>
            </a:pPr>
            <a:r>
              <a:rPr lang="en-IN" sz="1800" dirty="0">
                <a:solidFill>
                  <a:srgbClr val="2D3744"/>
                </a:solidFill>
                <a:latin typeface="Aptos"/>
              </a:rPr>
              <a:t>Useful for graph-based data.</a:t>
            </a:r>
          </a:p>
          <a:p>
            <a:pPr>
              <a:spcAft>
                <a:spcPts val="600"/>
              </a:spcAft>
            </a:pPr>
            <a:r>
              <a:rPr lang="en-IN" sz="1800" dirty="0">
                <a:solidFill>
                  <a:srgbClr val="2D3744"/>
                </a:solidFill>
                <a:latin typeface="Aptos"/>
              </a:rPr>
              <a:t>Supports different similarity/affinity methods.</a:t>
            </a:r>
          </a:p>
          <a:p>
            <a:pPr>
              <a:spcAft>
                <a:spcPts val="600"/>
              </a:spcAft>
            </a:pPr>
            <a:r>
              <a:rPr lang="en-IN" sz="1800" dirty="0">
                <a:solidFill>
                  <a:srgbClr val="2D3744"/>
                </a:solidFill>
                <a:latin typeface="Aptos"/>
              </a:rPr>
              <a:t>Can capture non-linear relationships.</a:t>
            </a:r>
          </a:p>
          <a:p>
            <a:pPr>
              <a:spcAft>
                <a:spcPts val="600"/>
              </a:spcAft>
            </a:pPr>
            <a:r>
              <a:rPr lang="en-IN" sz="1800" dirty="0">
                <a:solidFill>
                  <a:srgbClr val="2D3744"/>
                </a:solidFill>
                <a:latin typeface="Aptos"/>
              </a:rPr>
              <a:t>Useful for image segmentation.</a:t>
            </a:r>
          </a:p>
          <a:p>
            <a:pPr>
              <a:spcAft>
                <a:spcPts val="600"/>
              </a:spcAft>
            </a:pPr>
            <a:r>
              <a:rPr lang="en-IN" sz="1800" dirty="0">
                <a:solidFill>
                  <a:srgbClr val="2D3744"/>
                </a:solidFill>
                <a:latin typeface="Aptos"/>
              </a:rPr>
              <a:t>Can reveal connectivity patterns.</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15</a:t>
            </a:r>
          </a:p>
        </p:txBody>
      </p:sp>
    </p:spTree>
    <p:extLst>
      <p:ext uri="{BB962C8B-B14F-4D97-AF65-F5344CB8AC3E}">
        <p14:creationId xmlns:p14="http://schemas.microsoft.com/office/powerpoint/2010/main" val="4086253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90A8-E240-B691-7B77-01FCDED78B30}"/>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Disadvantages</a:t>
            </a:r>
            <a:endParaRPr lang="en-IN" dirty="0"/>
          </a:p>
        </p:txBody>
      </p:sp>
      <p:sp>
        <p:nvSpPr>
          <p:cNvPr id="3" name="Content Placeholder 2">
            <a:extLst>
              <a:ext uri="{FF2B5EF4-FFF2-40B4-BE49-F238E27FC236}">
                <a16:creationId xmlns:a16="http://schemas.microsoft.com/office/drawing/2014/main" id="{CB61B014-10C8-C127-2B82-87BF4AEE8D6C}"/>
              </a:ext>
            </a:extLst>
          </p:cNvPr>
          <p:cNvSpPr>
            <a:spLocks noGrp="1"/>
          </p:cNvSpPr>
          <p:nvPr>
            <p:ph idx="1"/>
          </p:nvPr>
        </p:nvSpPr>
        <p:spPr>
          <a:xfrm>
            <a:off x="838200" y="1825625"/>
            <a:ext cx="10515600" cy="3693260"/>
          </a:xfrm>
        </p:spPr>
        <p:txBody>
          <a:bodyPr wrap="square" lIns="73152" tIns="36576" rIns="73152" bIns="36576" anchor="ctr"/>
          <a:lstStyle/>
          <a:p>
            <a:pPr>
              <a:spcAft>
                <a:spcPts val="600"/>
              </a:spcAft>
            </a:pPr>
            <a:r>
              <a:rPr lang="en-IN" sz="1800" dirty="0">
                <a:solidFill>
                  <a:srgbClr val="2D3744"/>
                </a:solidFill>
                <a:latin typeface="Aptos"/>
              </a:rPr>
              <a:t>Number of clusters generally needs to be specified.</a:t>
            </a:r>
          </a:p>
          <a:p>
            <a:pPr>
              <a:spcAft>
                <a:spcPts val="600"/>
              </a:spcAft>
            </a:pPr>
            <a:r>
              <a:rPr lang="en-IN" sz="1800" dirty="0">
                <a:solidFill>
                  <a:srgbClr val="2D3744"/>
                </a:solidFill>
                <a:latin typeface="Aptos"/>
              </a:rPr>
              <a:t>Computationally expensive for large datasets.</a:t>
            </a:r>
          </a:p>
          <a:p>
            <a:pPr>
              <a:spcAft>
                <a:spcPts val="600"/>
              </a:spcAft>
            </a:pPr>
            <a:r>
              <a:rPr lang="en-IN" sz="1800" dirty="0">
                <a:solidFill>
                  <a:srgbClr val="2D3744"/>
                </a:solidFill>
                <a:latin typeface="Aptos"/>
              </a:rPr>
              <a:t>Can require high memory.</a:t>
            </a:r>
          </a:p>
          <a:p>
            <a:pPr>
              <a:spcAft>
                <a:spcPts val="600"/>
              </a:spcAft>
            </a:pPr>
            <a:r>
              <a:rPr lang="en-IN" sz="1800" dirty="0">
                <a:solidFill>
                  <a:srgbClr val="2D3744"/>
                </a:solidFill>
                <a:latin typeface="Aptos"/>
              </a:rPr>
              <a:t>Sensitive to the selected affinity method.</a:t>
            </a:r>
          </a:p>
          <a:p>
            <a:pPr>
              <a:spcAft>
                <a:spcPts val="600"/>
              </a:spcAft>
            </a:pPr>
            <a:r>
              <a:rPr lang="en-IN" sz="1800" dirty="0">
                <a:solidFill>
                  <a:srgbClr val="2D3744"/>
                </a:solidFill>
                <a:latin typeface="Aptos"/>
              </a:rPr>
              <a:t>Sensitive to parameters such as gamma and in </a:t>
            </a:r>
            <a:r>
              <a:rPr lang="en-IN" sz="1800" dirty="0" err="1">
                <a:solidFill>
                  <a:srgbClr val="2D3744"/>
                </a:solidFill>
                <a:latin typeface="Aptos"/>
              </a:rPr>
              <a:t>neighbors</a:t>
            </a:r>
            <a:r>
              <a:rPr lang="en-IN" sz="1800" dirty="0">
                <a:solidFill>
                  <a:srgbClr val="2D3744"/>
                </a:solidFill>
                <a:latin typeface="Aptos"/>
              </a:rPr>
              <a:t>.</a:t>
            </a:r>
          </a:p>
          <a:p>
            <a:pPr>
              <a:spcAft>
                <a:spcPts val="600"/>
              </a:spcAft>
            </a:pPr>
            <a:r>
              <a:rPr lang="en-IN" sz="1800" dirty="0">
                <a:solidFill>
                  <a:srgbClr val="2D3744"/>
                </a:solidFill>
                <a:latin typeface="Aptos"/>
              </a:rPr>
              <a:t>Feature scaling can be important.</a:t>
            </a:r>
          </a:p>
          <a:p>
            <a:pPr>
              <a:spcAft>
                <a:spcPts val="600"/>
              </a:spcAft>
            </a:pPr>
            <a:r>
              <a:rPr lang="en-IN" sz="1800" dirty="0">
                <a:solidFill>
                  <a:srgbClr val="2D3744"/>
                </a:solidFill>
                <a:latin typeface="Aptos"/>
              </a:rPr>
              <a:t>Not ideal for very large datasets.</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16</a:t>
            </a:r>
          </a:p>
        </p:txBody>
      </p:sp>
    </p:spTree>
    <p:extLst>
      <p:ext uri="{BB962C8B-B14F-4D97-AF65-F5344CB8AC3E}">
        <p14:creationId xmlns:p14="http://schemas.microsoft.com/office/powerpoint/2010/main" val="1973095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4C272-637A-ECFF-B4A1-2F04A1801474}"/>
              </a:ext>
            </a:extLst>
          </p:cNvPr>
          <p:cNvSpPr>
            <a:spLocks noGrp="1"/>
          </p:cNvSpPr>
          <p:nvPr>
            <p:ph type="title"/>
          </p:nvPr>
        </p:nvSpPr>
        <p:spPr>
          <a:xfrm>
            <a:off x="7652657" y="373076"/>
            <a:ext cx="3701142" cy="1325563"/>
          </a:xfrm>
        </p:spPr>
        <p:txBody>
          <a:bodyPr wrap="square" lIns="73152" tIns="36576" rIns="73152" bIns="36576" anchor="ctr"/>
          <a:lstStyle/>
          <a:p>
            <a:pPr algn="l">
              <a:spcAft>
                <a:spcPts val="600"/>
              </a:spcAft>
            </a:pPr>
            <a:r>
              <a:rPr lang="en-US" sz="2800" b="1" dirty="0">
                <a:solidFill>
                  <a:srgbClr val="123054"/>
                </a:solidFill>
                <a:latin typeface="Aptos"/>
              </a:rPr>
              <a:t>DBSCAN Clustering</a:t>
            </a:r>
            <a:endParaRPr lang="en-IN" dirty="0"/>
          </a:p>
        </p:txBody>
      </p:sp>
      <p:sp>
        <p:nvSpPr>
          <p:cNvPr id="3" name="Content Placeholder 2">
            <a:extLst>
              <a:ext uri="{FF2B5EF4-FFF2-40B4-BE49-F238E27FC236}">
                <a16:creationId xmlns:a16="http://schemas.microsoft.com/office/drawing/2014/main" id="{DA45B156-ACB8-0C7D-15B4-31C149D1E97A}"/>
              </a:ext>
            </a:extLst>
          </p:cNvPr>
          <p:cNvSpPr>
            <a:spLocks noGrp="1"/>
          </p:cNvSpPr>
          <p:nvPr>
            <p:ph idx="1"/>
          </p:nvPr>
        </p:nvSpPr>
        <p:spPr>
          <a:xfrm>
            <a:off x="7506160" y="1825625"/>
            <a:ext cx="3847639" cy="4351338"/>
          </a:xfrm>
        </p:spPr>
        <p:txBody>
          <a:bodyPr wrap="square" lIns="73152" tIns="36576" rIns="73152" bIns="36576" anchor="ctr">
            <a:normAutofit lnSpcReduction="10000"/>
          </a:bodyPr>
          <a:lstStyle/>
          <a:p>
            <a:pPr marL="0" indent="0" algn="just">
              <a:lnSpc>
                <a:spcPct val="150000"/>
              </a:lnSpc>
              <a:spcAft>
                <a:spcPts val="600"/>
              </a:spcAft>
              <a:buNone/>
            </a:pPr>
            <a:r>
              <a:rPr lang="en-IN" sz="1800" b="1" dirty="0">
                <a:solidFill>
                  <a:srgbClr val="2D3744"/>
                </a:solidFill>
                <a:latin typeface="Aptos"/>
              </a:rPr>
              <a:t>	DBSCAN </a:t>
            </a:r>
            <a:r>
              <a:rPr lang="en-IN" sz="1800" dirty="0">
                <a:solidFill>
                  <a:srgbClr val="2D3744"/>
                </a:solidFill>
                <a:latin typeface="Aptos"/>
              </a:rPr>
              <a:t>(Density-Based Spatial Clustering of Applications with Noise) is an unsupervised, density-based clustering algorithm that groups data points based on their density using eps and </a:t>
            </a:r>
            <a:r>
              <a:rPr lang="en-IN" sz="1800" dirty="0" err="1">
                <a:solidFill>
                  <a:srgbClr val="2D3744"/>
                </a:solidFill>
                <a:latin typeface="Aptos"/>
              </a:rPr>
              <a:t>min_samples</a:t>
            </a:r>
            <a:r>
              <a:rPr lang="en-IN" sz="1800" dirty="0">
                <a:solidFill>
                  <a:srgbClr val="2D3744"/>
                </a:solidFill>
                <a:latin typeface="Aptos"/>
              </a:rPr>
              <a:t>. It can discover clusters of arbitrary shape and identify noise or outlier points without requiring the number of clusters to be specified in advance.</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17</a:t>
            </a:r>
          </a:p>
        </p:txBody>
      </p:sp>
      <p:pic>
        <p:nvPicPr>
          <p:cNvPr id="9" name="Picture 8">
            <a:extLst>
              <a:ext uri="{FF2B5EF4-FFF2-40B4-BE49-F238E27FC236}">
                <a16:creationId xmlns:a16="http://schemas.microsoft.com/office/drawing/2014/main" id="{F9D9FAE5-593E-576C-7502-500A300B9814}"/>
              </a:ext>
            </a:extLst>
          </p:cNvPr>
          <p:cNvPicPr>
            <a:picLocks noChangeAspect="1"/>
          </p:cNvPicPr>
          <p:nvPr/>
        </p:nvPicPr>
        <p:blipFill>
          <a:blip r:embed="rId2"/>
          <a:srcRect l="18178"/>
          <a:stretch>
            <a:fillRect/>
          </a:stretch>
        </p:blipFill>
        <p:spPr>
          <a:xfrm>
            <a:off x="12192" y="10"/>
            <a:ext cx="7481777" cy="685799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noFill/>
        </p:spPr>
      </p:pic>
    </p:spTree>
    <p:extLst>
      <p:ext uri="{BB962C8B-B14F-4D97-AF65-F5344CB8AC3E}">
        <p14:creationId xmlns:p14="http://schemas.microsoft.com/office/powerpoint/2010/main" val="3364019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2DE80-2DC1-E89B-A8BC-6C869F4F84DC}"/>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DBSCAN Clustering- diagram</a:t>
            </a:r>
            <a:endParaRPr lang="en-IN" dirty="0"/>
          </a:p>
        </p:txBody>
      </p:sp>
      <p:pic>
        <p:nvPicPr>
          <p:cNvPr id="9" name="Content Placeholder 8">
            <a:extLst>
              <a:ext uri="{FF2B5EF4-FFF2-40B4-BE49-F238E27FC236}">
                <a16:creationId xmlns:a16="http://schemas.microsoft.com/office/drawing/2014/main" id="{3F52AF9E-9E8C-3F69-EBF4-A7632CB691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8477" y="1825625"/>
            <a:ext cx="6135045" cy="4351338"/>
          </a:xfrm>
          <a:prstGeom prst="rect">
            <a:avLst/>
          </a:prstGeom>
        </p:spPr>
      </p:pic>
      <p:sp>
        <p:nvSpPr>
          <p:cNvPr id="10" name="Rectangle 9"/>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13" name="TextBox 12"/>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18</a:t>
            </a:r>
          </a:p>
        </p:txBody>
      </p:sp>
    </p:spTree>
    <p:extLst>
      <p:ext uri="{BB962C8B-B14F-4D97-AF65-F5344CB8AC3E}">
        <p14:creationId xmlns:p14="http://schemas.microsoft.com/office/powerpoint/2010/main" val="889920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D27DF-BCE1-1459-F7D9-BAC321E5986F}"/>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Steps to work in DBSCAN cluster</a:t>
            </a:r>
            <a:endParaRPr lang="en-IN" dirty="0"/>
          </a:p>
        </p:txBody>
      </p:sp>
      <p:sp>
        <p:nvSpPr>
          <p:cNvPr id="3" name="Content Placeholder 2">
            <a:extLst>
              <a:ext uri="{FF2B5EF4-FFF2-40B4-BE49-F238E27FC236}">
                <a16:creationId xmlns:a16="http://schemas.microsoft.com/office/drawing/2014/main" id="{B5689847-29AE-F864-3002-5BA5C5287924}"/>
              </a:ext>
            </a:extLst>
          </p:cNvPr>
          <p:cNvSpPr>
            <a:spLocks noGrp="1"/>
          </p:cNvSpPr>
          <p:nvPr>
            <p:ph idx="1"/>
          </p:nvPr>
        </p:nvSpPr>
        <p:spPr>
          <a:xfrm>
            <a:off x="838200" y="1825625"/>
            <a:ext cx="10515600" cy="3671574"/>
          </a:xfrm>
        </p:spPr>
        <p:txBody>
          <a:bodyPr wrap="square" lIns="73152" tIns="36576" rIns="73152" bIns="36576" anchor="ctr"/>
          <a:lstStyle/>
          <a:p>
            <a:pPr>
              <a:spcAft>
                <a:spcPts val="600"/>
              </a:spcAft>
            </a:pPr>
            <a:r>
              <a:rPr lang="en-IN" sz="1800" dirty="0">
                <a:solidFill>
                  <a:srgbClr val="2D3744"/>
                </a:solidFill>
                <a:latin typeface="Aptos"/>
              </a:rPr>
              <a:t>Select an unvisited data point</a:t>
            </a:r>
          </a:p>
          <a:p>
            <a:pPr>
              <a:spcAft>
                <a:spcPts val="600"/>
              </a:spcAft>
            </a:pPr>
            <a:r>
              <a:rPr lang="en-IN" sz="1800" dirty="0">
                <a:solidFill>
                  <a:srgbClr val="2D3744"/>
                </a:solidFill>
                <a:latin typeface="Aptos"/>
              </a:rPr>
              <a:t>Define the eps radius</a:t>
            </a:r>
          </a:p>
          <a:p>
            <a:pPr>
              <a:spcAft>
                <a:spcPts val="600"/>
              </a:spcAft>
            </a:pPr>
            <a:r>
              <a:rPr lang="en-IN" sz="1800" dirty="0">
                <a:solidFill>
                  <a:srgbClr val="2D3744"/>
                </a:solidFill>
                <a:latin typeface="Aptos"/>
              </a:rPr>
              <a:t>Check </a:t>
            </a:r>
            <a:r>
              <a:rPr lang="en-IN" sz="1800" dirty="0" err="1">
                <a:solidFill>
                  <a:srgbClr val="2D3744"/>
                </a:solidFill>
                <a:latin typeface="Aptos"/>
              </a:rPr>
              <a:t>min_samples</a:t>
            </a:r>
            <a:endParaRPr lang="en-IN" dirty="0"/>
          </a:p>
          <a:p>
            <a:pPr>
              <a:spcAft>
                <a:spcPts val="600"/>
              </a:spcAft>
            </a:pPr>
            <a:r>
              <a:rPr lang="en-IN" sz="1800" dirty="0">
                <a:solidFill>
                  <a:srgbClr val="2D3744"/>
                </a:solidFill>
                <a:latin typeface="Aptos"/>
              </a:rPr>
              <a:t>Expand the cluster</a:t>
            </a:r>
          </a:p>
          <a:p>
            <a:pPr>
              <a:spcAft>
                <a:spcPts val="600"/>
              </a:spcAft>
            </a:pPr>
            <a:r>
              <a:rPr lang="en-IN" sz="1800" dirty="0">
                <a:solidFill>
                  <a:srgbClr val="2D3744"/>
                </a:solidFill>
                <a:latin typeface="Aptos"/>
              </a:rPr>
              <a:t>Identify Border Points</a:t>
            </a:r>
          </a:p>
          <a:p>
            <a:pPr>
              <a:spcAft>
                <a:spcPts val="600"/>
              </a:spcAft>
            </a:pPr>
            <a:r>
              <a:rPr lang="en-IN" sz="1800" dirty="0">
                <a:solidFill>
                  <a:srgbClr val="2D3744"/>
                </a:solidFill>
                <a:latin typeface="Aptos"/>
              </a:rPr>
              <a:t>Identify Noise</a:t>
            </a:r>
          </a:p>
          <a:p>
            <a:pPr>
              <a:spcAft>
                <a:spcPts val="600"/>
              </a:spcAft>
            </a:pPr>
            <a:endParaRPr lang="en-IN" dirty="0"/>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19</a:t>
            </a:r>
          </a:p>
        </p:txBody>
      </p:sp>
    </p:spTree>
    <p:extLst>
      <p:ext uri="{BB962C8B-B14F-4D97-AF65-F5344CB8AC3E}">
        <p14:creationId xmlns:p14="http://schemas.microsoft.com/office/powerpoint/2010/main" val="17701570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BEC5F-5EA3-7861-85DF-C8517206EFC9}"/>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Advantages</a:t>
            </a:r>
            <a:endParaRPr lang="en-IN" dirty="0"/>
          </a:p>
        </p:txBody>
      </p:sp>
      <p:sp>
        <p:nvSpPr>
          <p:cNvPr id="3" name="Content Placeholder 2">
            <a:extLst>
              <a:ext uri="{FF2B5EF4-FFF2-40B4-BE49-F238E27FC236}">
                <a16:creationId xmlns:a16="http://schemas.microsoft.com/office/drawing/2014/main" id="{0FF80F0F-A46A-5764-225B-2C7004B05E9D}"/>
              </a:ext>
            </a:extLst>
          </p:cNvPr>
          <p:cNvSpPr>
            <a:spLocks noGrp="1"/>
          </p:cNvSpPr>
          <p:nvPr>
            <p:ph idx="1"/>
          </p:nvPr>
        </p:nvSpPr>
        <p:spPr>
          <a:xfrm>
            <a:off x="838200" y="1825625"/>
            <a:ext cx="10515600" cy="3030791"/>
          </a:xfrm>
        </p:spPr>
        <p:txBody>
          <a:bodyPr wrap="square" lIns="73152" tIns="36576" rIns="73152" bIns="36576" anchor="ctr"/>
          <a:lstStyle/>
          <a:p>
            <a:pPr>
              <a:spcAft>
                <a:spcPts val="600"/>
              </a:spcAft>
            </a:pPr>
            <a:r>
              <a:rPr lang="en-IN" sz="1800" dirty="0">
                <a:solidFill>
                  <a:srgbClr val="2D3744"/>
                </a:solidFill>
                <a:latin typeface="Aptos"/>
              </a:rPr>
              <a:t>No need to specify number of clusters</a:t>
            </a:r>
          </a:p>
          <a:p>
            <a:pPr>
              <a:spcAft>
                <a:spcPts val="600"/>
              </a:spcAft>
            </a:pPr>
            <a:r>
              <a:rPr lang="en-IN" sz="1800" dirty="0">
                <a:solidFill>
                  <a:srgbClr val="2D3744"/>
                </a:solidFill>
                <a:latin typeface="Aptos"/>
              </a:rPr>
              <a:t>Can detect outliers</a:t>
            </a:r>
          </a:p>
          <a:p>
            <a:pPr>
              <a:spcAft>
                <a:spcPts val="600"/>
              </a:spcAft>
            </a:pPr>
            <a:r>
              <a:rPr lang="en-IN" sz="1800" dirty="0">
                <a:solidFill>
                  <a:srgbClr val="2D3744"/>
                </a:solidFill>
                <a:latin typeface="Aptos"/>
              </a:rPr>
              <a:t>Can find irregular-shaped clusters</a:t>
            </a:r>
          </a:p>
          <a:p>
            <a:pPr>
              <a:spcAft>
                <a:spcPts val="600"/>
              </a:spcAft>
            </a:pPr>
            <a:r>
              <a:rPr lang="en-IN" sz="1800" dirty="0">
                <a:solidFill>
                  <a:srgbClr val="2D3744"/>
                </a:solidFill>
                <a:latin typeface="Aptos"/>
              </a:rPr>
              <a:t>No need for cluster centroids</a:t>
            </a:r>
          </a:p>
          <a:p>
            <a:pPr>
              <a:spcAft>
                <a:spcPts val="600"/>
              </a:spcAft>
            </a:pPr>
            <a:r>
              <a:rPr lang="en-IN" sz="1800" dirty="0">
                <a:solidFill>
                  <a:srgbClr val="2D3744"/>
                </a:solidFill>
                <a:latin typeface="Aptos"/>
              </a:rPr>
              <a:t>Useful for noisy datasets</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20</a:t>
            </a:r>
          </a:p>
        </p:txBody>
      </p:sp>
    </p:spTree>
    <p:extLst>
      <p:ext uri="{BB962C8B-B14F-4D97-AF65-F5344CB8AC3E}">
        <p14:creationId xmlns:p14="http://schemas.microsoft.com/office/powerpoint/2010/main" val="2972276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3CC6D-50DB-2F5C-E3C6-6FBAA41398A6}"/>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Disadvantages</a:t>
            </a:r>
            <a:endParaRPr lang="en-IN" dirty="0"/>
          </a:p>
        </p:txBody>
      </p:sp>
      <p:sp>
        <p:nvSpPr>
          <p:cNvPr id="3" name="Content Placeholder 2">
            <a:extLst>
              <a:ext uri="{FF2B5EF4-FFF2-40B4-BE49-F238E27FC236}">
                <a16:creationId xmlns:a16="http://schemas.microsoft.com/office/drawing/2014/main" id="{79743D9E-7447-F0C0-0967-833D60189145}"/>
              </a:ext>
            </a:extLst>
          </p:cNvPr>
          <p:cNvSpPr>
            <a:spLocks noGrp="1"/>
          </p:cNvSpPr>
          <p:nvPr>
            <p:ph idx="1"/>
          </p:nvPr>
        </p:nvSpPr>
        <p:spPr>
          <a:xfrm>
            <a:off x="838200" y="1825625"/>
            <a:ext cx="10515600" cy="3030791"/>
          </a:xfrm>
        </p:spPr>
        <p:txBody>
          <a:bodyPr wrap="square" lIns="73152" tIns="36576" rIns="73152" bIns="36576" anchor="ctr"/>
          <a:lstStyle/>
          <a:p>
            <a:pPr>
              <a:spcAft>
                <a:spcPts val="600"/>
              </a:spcAft>
            </a:pPr>
            <a:r>
              <a:rPr lang="en-IN" sz="1800" dirty="0">
                <a:solidFill>
                  <a:srgbClr val="2D3744"/>
                </a:solidFill>
                <a:latin typeface="Aptos"/>
              </a:rPr>
              <a:t>Sensitive to eps</a:t>
            </a:r>
          </a:p>
          <a:p>
            <a:pPr>
              <a:spcAft>
                <a:spcPts val="600"/>
              </a:spcAft>
            </a:pPr>
            <a:r>
              <a:rPr lang="en-IN" sz="1800" dirty="0">
                <a:solidFill>
                  <a:srgbClr val="2D3744"/>
                </a:solidFill>
                <a:latin typeface="Aptos"/>
              </a:rPr>
              <a:t>Sensitive to </a:t>
            </a:r>
            <a:r>
              <a:rPr lang="en-IN" sz="1800" dirty="0" err="1">
                <a:solidFill>
                  <a:srgbClr val="2D3744"/>
                </a:solidFill>
                <a:latin typeface="Aptos"/>
              </a:rPr>
              <a:t>min_samples</a:t>
            </a:r>
            <a:endParaRPr lang="en-IN" dirty="0"/>
          </a:p>
          <a:p>
            <a:pPr>
              <a:spcAft>
                <a:spcPts val="600"/>
              </a:spcAft>
            </a:pPr>
            <a:r>
              <a:rPr lang="en-IN" sz="1800" dirty="0">
                <a:solidFill>
                  <a:srgbClr val="2D3744"/>
                </a:solidFill>
                <a:latin typeface="Aptos"/>
              </a:rPr>
              <a:t>Struggles with varying-density clusters</a:t>
            </a:r>
          </a:p>
          <a:p>
            <a:pPr>
              <a:spcAft>
                <a:spcPts val="600"/>
              </a:spcAft>
            </a:pPr>
            <a:r>
              <a:rPr lang="en-IN" sz="1800" dirty="0">
                <a:solidFill>
                  <a:srgbClr val="2D3744"/>
                </a:solidFill>
                <a:latin typeface="Aptos"/>
              </a:rPr>
              <a:t>Distance calculation can become difficult in high dimensions</a:t>
            </a:r>
          </a:p>
          <a:p>
            <a:pPr>
              <a:spcAft>
                <a:spcPts val="600"/>
              </a:spcAft>
            </a:pPr>
            <a:r>
              <a:rPr lang="en-IN" sz="1800" dirty="0">
                <a:solidFill>
                  <a:srgbClr val="2D3744"/>
                </a:solidFill>
                <a:latin typeface="Aptos"/>
              </a:rPr>
              <a:t>Requires parameter tuning</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21</a:t>
            </a:r>
          </a:p>
        </p:txBody>
      </p:sp>
    </p:spTree>
    <p:extLst>
      <p:ext uri="{BB962C8B-B14F-4D97-AF65-F5344CB8AC3E}">
        <p14:creationId xmlns:p14="http://schemas.microsoft.com/office/powerpoint/2010/main" val="663615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A4C0F-3BFB-F7A5-5220-B14237D501ED}"/>
              </a:ext>
            </a:extLst>
          </p:cNvPr>
          <p:cNvSpPr>
            <a:spLocks noGrp="1"/>
          </p:cNvSpPr>
          <p:nvPr>
            <p:ph type="title"/>
          </p:nvPr>
        </p:nvSpPr>
        <p:spPr>
          <a:xfrm>
            <a:off x="7587343" y="365125"/>
            <a:ext cx="3766456" cy="1325563"/>
          </a:xfrm>
        </p:spPr>
        <p:txBody>
          <a:bodyPr wrap="square" lIns="73152" tIns="36576" rIns="73152" bIns="36576" anchor="ctr"/>
          <a:lstStyle/>
          <a:p>
            <a:pPr algn="l">
              <a:spcAft>
                <a:spcPts val="600"/>
              </a:spcAft>
            </a:pPr>
            <a:r>
              <a:rPr lang="en-US" sz="2800" b="1" dirty="0">
                <a:solidFill>
                  <a:srgbClr val="123054"/>
                </a:solidFill>
                <a:latin typeface="Aptos"/>
              </a:rPr>
              <a:t>OPTICS Clustering</a:t>
            </a:r>
            <a:endParaRPr lang="en-IN" dirty="0"/>
          </a:p>
        </p:txBody>
      </p:sp>
      <p:sp>
        <p:nvSpPr>
          <p:cNvPr id="3" name="Content Placeholder 2">
            <a:extLst>
              <a:ext uri="{FF2B5EF4-FFF2-40B4-BE49-F238E27FC236}">
                <a16:creationId xmlns:a16="http://schemas.microsoft.com/office/drawing/2014/main" id="{B999F199-9945-750C-CCD1-4F8AA56D71C8}"/>
              </a:ext>
            </a:extLst>
          </p:cNvPr>
          <p:cNvSpPr>
            <a:spLocks noGrp="1"/>
          </p:cNvSpPr>
          <p:nvPr>
            <p:ph idx="1"/>
          </p:nvPr>
        </p:nvSpPr>
        <p:spPr>
          <a:xfrm>
            <a:off x="7587343" y="1825625"/>
            <a:ext cx="3766456" cy="4351338"/>
          </a:xfrm>
        </p:spPr>
        <p:txBody>
          <a:bodyPr wrap="square" lIns="73152" tIns="36576" rIns="73152" bIns="36576" anchor="ctr"/>
          <a:lstStyle/>
          <a:p>
            <a:pPr marL="0" indent="0" algn="just">
              <a:lnSpc>
                <a:spcPct val="150000"/>
              </a:lnSpc>
              <a:spcAft>
                <a:spcPts val="600"/>
              </a:spcAft>
              <a:buNone/>
            </a:pPr>
            <a:r>
              <a:rPr lang="en-IN" sz="1800" dirty="0">
                <a:solidFill>
                  <a:srgbClr val="2D3744"/>
                </a:solidFill>
                <a:latin typeface="Aptos"/>
              </a:rPr>
              <a:t>	</a:t>
            </a:r>
            <a:r>
              <a:rPr lang="en-IN" sz="1800" b="1" dirty="0">
                <a:solidFill>
                  <a:srgbClr val="2D3744"/>
                </a:solidFill>
                <a:latin typeface="Aptos"/>
              </a:rPr>
              <a:t>OPTICS</a:t>
            </a:r>
            <a:r>
              <a:rPr lang="en-IN" sz="1800" dirty="0">
                <a:solidFill>
                  <a:srgbClr val="2D3744"/>
                </a:solidFill>
                <a:latin typeface="Aptos"/>
              </a:rPr>
              <a:t> (Ordering Points To Identify the Clustering Structure) is an unsupervised density-based clustering algorithm that identifies clusters of varying densities by ordering data points according to their density connectivity and reachability distance. It can also identify noise or outlier points</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22</a:t>
            </a:r>
          </a:p>
        </p:txBody>
      </p:sp>
      <p:pic>
        <p:nvPicPr>
          <p:cNvPr id="9" name="Picture 8">
            <a:extLst>
              <a:ext uri="{FF2B5EF4-FFF2-40B4-BE49-F238E27FC236}">
                <a16:creationId xmlns:a16="http://schemas.microsoft.com/office/drawing/2014/main" id="{DFB21C83-E4B3-E5AD-A098-2010C923166F}"/>
              </a:ext>
            </a:extLst>
          </p:cNvPr>
          <p:cNvPicPr>
            <a:picLocks noChangeAspect="1"/>
          </p:cNvPicPr>
          <p:nvPr/>
        </p:nvPicPr>
        <p:blipFill>
          <a:blip r:embed="rId2"/>
          <a:srcRect l="18178"/>
          <a:stretch>
            <a:fillRect/>
          </a:stretch>
        </p:blipFill>
        <p:spPr>
          <a:xfrm>
            <a:off x="12192" y="10"/>
            <a:ext cx="7481777" cy="685799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noFill/>
        </p:spPr>
      </p:pic>
    </p:spTree>
    <p:extLst>
      <p:ext uri="{BB962C8B-B14F-4D97-AF65-F5344CB8AC3E}">
        <p14:creationId xmlns:p14="http://schemas.microsoft.com/office/powerpoint/2010/main" val="2642384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C1607-6465-6EEF-8D32-B2E9A940AA59}"/>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Optics Clustering- diagram</a:t>
            </a:r>
            <a:endParaRPr lang="en-IN" dirty="0"/>
          </a:p>
        </p:txBody>
      </p:sp>
      <p:pic>
        <p:nvPicPr>
          <p:cNvPr id="5" name="Content Placeholder 4">
            <a:extLst>
              <a:ext uri="{FF2B5EF4-FFF2-40B4-BE49-F238E27FC236}">
                <a16:creationId xmlns:a16="http://schemas.microsoft.com/office/drawing/2014/main" id="{A85A68BB-3AB3-C61D-F6B4-0BBD11EC7E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433538"/>
            <a:ext cx="10515600" cy="3135511"/>
          </a:xfrm>
          <a:prstGeom prst="rect">
            <a:avLst/>
          </a:prstGeom>
        </p:spPr>
      </p:pic>
      <p:sp>
        <p:nvSpPr>
          <p:cNvPr id="6" name="Rectangle 5"/>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9" name="TextBox 8"/>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23</a:t>
            </a:r>
          </a:p>
        </p:txBody>
      </p:sp>
    </p:spTree>
    <p:extLst>
      <p:ext uri="{BB962C8B-B14F-4D97-AF65-F5344CB8AC3E}">
        <p14:creationId xmlns:p14="http://schemas.microsoft.com/office/powerpoint/2010/main" val="1995645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E5F08-AC37-25D6-1A62-3C88A061920B}"/>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Steps to work in Optics cluster</a:t>
            </a:r>
            <a:endParaRPr lang="en-IN" dirty="0"/>
          </a:p>
        </p:txBody>
      </p:sp>
      <p:sp>
        <p:nvSpPr>
          <p:cNvPr id="3" name="Content Placeholder 2">
            <a:extLst>
              <a:ext uri="{FF2B5EF4-FFF2-40B4-BE49-F238E27FC236}">
                <a16:creationId xmlns:a16="http://schemas.microsoft.com/office/drawing/2014/main" id="{D812D3E4-E08F-67ED-F4AE-1A95521F05D3}"/>
              </a:ext>
            </a:extLst>
          </p:cNvPr>
          <p:cNvSpPr>
            <a:spLocks noGrp="1"/>
          </p:cNvSpPr>
          <p:nvPr>
            <p:ph idx="1"/>
          </p:nvPr>
        </p:nvSpPr>
        <p:spPr>
          <a:xfrm>
            <a:off x="838200" y="1825625"/>
            <a:ext cx="10515600" cy="4063546"/>
          </a:xfrm>
        </p:spPr>
        <p:txBody>
          <a:bodyPr wrap="square" lIns="73152" tIns="36576" rIns="73152" bIns="36576" anchor="ctr"/>
          <a:lstStyle/>
          <a:p>
            <a:pPr>
              <a:spcAft>
                <a:spcPts val="600"/>
              </a:spcAft>
            </a:pPr>
            <a:r>
              <a:rPr lang="en-IN" sz="1800" dirty="0">
                <a:solidFill>
                  <a:srgbClr val="2D3744"/>
                </a:solidFill>
                <a:latin typeface="Aptos"/>
              </a:rPr>
              <a:t>Input Data</a:t>
            </a:r>
          </a:p>
          <a:p>
            <a:pPr>
              <a:spcAft>
                <a:spcPts val="600"/>
              </a:spcAft>
            </a:pPr>
            <a:r>
              <a:rPr lang="en-IN" sz="1800" dirty="0">
                <a:solidFill>
                  <a:srgbClr val="2D3744"/>
                </a:solidFill>
                <a:latin typeface="Aptos"/>
              </a:rPr>
              <a:t>Calculate distances</a:t>
            </a:r>
          </a:p>
          <a:p>
            <a:pPr>
              <a:spcAft>
                <a:spcPts val="600"/>
              </a:spcAft>
            </a:pPr>
            <a:r>
              <a:rPr lang="en-IN" sz="1800" dirty="0">
                <a:solidFill>
                  <a:srgbClr val="2D3744"/>
                </a:solidFill>
                <a:latin typeface="Aptos"/>
              </a:rPr>
              <a:t>Find core distances</a:t>
            </a:r>
          </a:p>
          <a:p>
            <a:pPr>
              <a:spcAft>
                <a:spcPts val="600"/>
              </a:spcAft>
            </a:pPr>
            <a:r>
              <a:rPr lang="en-IN" sz="1800" dirty="0">
                <a:solidFill>
                  <a:srgbClr val="2D3744"/>
                </a:solidFill>
                <a:latin typeface="Aptos"/>
              </a:rPr>
              <a:t>Calculate reachability distances</a:t>
            </a:r>
          </a:p>
          <a:p>
            <a:pPr>
              <a:spcAft>
                <a:spcPts val="600"/>
              </a:spcAft>
            </a:pPr>
            <a:r>
              <a:rPr lang="en-IN" sz="1800" dirty="0">
                <a:solidFill>
                  <a:srgbClr val="2D3744"/>
                </a:solidFill>
                <a:latin typeface="Aptos"/>
              </a:rPr>
              <a:t>Create ordered points</a:t>
            </a:r>
          </a:p>
          <a:p>
            <a:pPr>
              <a:spcAft>
                <a:spcPts val="600"/>
              </a:spcAft>
            </a:pPr>
            <a:r>
              <a:rPr lang="en-IN" sz="1800" dirty="0">
                <a:solidFill>
                  <a:srgbClr val="2D3744"/>
                </a:solidFill>
                <a:latin typeface="Aptos"/>
              </a:rPr>
              <a:t>Build Reachability Plot</a:t>
            </a:r>
          </a:p>
          <a:p>
            <a:pPr>
              <a:spcAft>
                <a:spcPts val="600"/>
              </a:spcAft>
            </a:pPr>
            <a:r>
              <a:rPr lang="en-IN" sz="1800" dirty="0">
                <a:solidFill>
                  <a:srgbClr val="2D3744"/>
                </a:solidFill>
                <a:latin typeface="Aptos"/>
              </a:rPr>
              <a:t>Identify dense regions</a:t>
            </a:r>
          </a:p>
          <a:p>
            <a:pPr>
              <a:spcAft>
                <a:spcPts val="600"/>
              </a:spcAft>
            </a:pPr>
            <a:r>
              <a:rPr lang="en-IN" sz="1800" dirty="0">
                <a:solidFill>
                  <a:srgbClr val="2D3744"/>
                </a:solidFill>
                <a:latin typeface="Aptos"/>
              </a:rPr>
              <a:t>Clusters + Noise</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24</a:t>
            </a:r>
          </a:p>
        </p:txBody>
      </p:sp>
    </p:spTree>
    <p:extLst>
      <p:ext uri="{BB962C8B-B14F-4D97-AF65-F5344CB8AC3E}">
        <p14:creationId xmlns:p14="http://schemas.microsoft.com/office/powerpoint/2010/main" val="378202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A09E7-84B4-A2A2-FF4F-1C7A611F3859}"/>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Advantages</a:t>
            </a:r>
            <a:endParaRPr lang="en-IN" dirty="0"/>
          </a:p>
        </p:txBody>
      </p:sp>
      <p:sp>
        <p:nvSpPr>
          <p:cNvPr id="3" name="Content Placeholder 2">
            <a:extLst>
              <a:ext uri="{FF2B5EF4-FFF2-40B4-BE49-F238E27FC236}">
                <a16:creationId xmlns:a16="http://schemas.microsoft.com/office/drawing/2014/main" id="{8C61725C-ADD4-0172-F17D-CE5932B52111}"/>
              </a:ext>
            </a:extLst>
          </p:cNvPr>
          <p:cNvSpPr>
            <a:spLocks noGrp="1"/>
          </p:cNvSpPr>
          <p:nvPr>
            <p:ph idx="1"/>
          </p:nvPr>
        </p:nvSpPr>
        <p:spPr>
          <a:xfrm>
            <a:off x="838200" y="1825625"/>
            <a:ext cx="10515600" cy="3464573"/>
          </a:xfrm>
        </p:spPr>
        <p:txBody>
          <a:bodyPr wrap="square" lIns="73152" tIns="36576" rIns="73152" bIns="36576" anchor="ctr"/>
          <a:lstStyle/>
          <a:p>
            <a:pPr>
              <a:spcAft>
                <a:spcPts val="600"/>
              </a:spcAft>
            </a:pPr>
            <a:r>
              <a:rPr lang="en-IN" sz="1800" dirty="0">
                <a:solidFill>
                  <a:srgbClr val="2D3744"/>
                </a:solidFill>
                <a:latin typeface="Aptos"/>
              </a:rPr>
              <a:t>Detects clusters with different densities</a:t>
            </a:r>
          </a:p>
          <a:p>
            <a:pPr>
              <a:spcAft>
                <a:spcPts val="600"/>
              </a:spcAft>
            </a:pPr>
            <a:r>
              <a:rPr lang="en-IN" sz="1800" dirty="0">
                <a:solidFill>
                  <a:srgbClr val="2D3744"/>
                </a:solidFill>
                <a:latin typeface="Aptos"/>
              </a:rPr>
              <a:t>Can identify noise</a:t>
            </a:r>
          </a:p>
          <a:p>
            <a:pPr>
              <a:spcAft>
                <a:spcPts val="600"/>
              </a:spcAft>
            </a:pPr>
            <a:r>
              <a:rPr lang="en-IN" sz="1800" dirty="0">
                <a:solidFill>
                  <a:srgbClr val="2D3744"/>
                </a:solidFill>
                <a:latin typeface="Aptos"/>
              </a:rPr>
              <a:t>Does not require the number of clusters beforehand</a:t>
            </a:r>
          </a:p>
          <a:p>
            <a:pPr>
              <a:spcAft>
                <a:spcPts val="600"/>
              </a:spcAft>
            </a:pPr>
            <a:r>
              <a:rPr lang="en-IN" sz="1800" dirty="0">
                <a:solidFill>
                  <a:srgbClr val="2D3744"/>
                </a:solidFill>
                <a:latin typeface="Aptos"/>
              </a:rPr>
              <a:t>Works with irregularly shaped clusters</a:t>
            </a:r>
          </a:p>
          <a:p>
            <a:pPr>
              <a:spcAft>
                <a:spcPts val="600"/>
              </a:spcAft>
            </a:pPr>
            <a:r>
              <a:rPr lang="en-IN" sz="1800" dirty="0">
                <a:solidFill>
                  <a:srgbClr val="2D3744"/>
                </a:solidFill>
                <a:latin typeface="Aptos"/>
              </a:rPr>
              <a:t>Provides a reachability structure</a:t>
            </a:r>
          </a:p>
          <a:p>
            <a:pPr>
              <a:spcAft>
                <a:spcPts val="600"/>
              </a:spcAft>
            </a:pPr>
            <a:r>
              <a:rPr lang="en-IN" sz="1800" dirty="0">
                <a:solidFill>
                  <a:srgbClr val="2D3744"/>
                </a:solidFill>
                <a:latin typeface="Aptos"/>
              </a:rPr>
              <a:t>Useful for exploratory analysis</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25</a:t>
            </a:r>
          </a:p>
        </p:txBody>
      </p:sp>
    </p:spTree>
    <p:extLst>
      <p:ext uri="{BB962C8B-B14F-4D97-AF65-F5344CB8AC3E}">
        <p14:creationId xmlns:p14="http://schemas.microsoft.com/office/powerpoint/2010/main" val="4280587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AF9D2-DD50-0171-13B1-A1FC3661C475}"/>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Disadvantages</a:t>
            </a:r>
            <a:endParaRPr lang="en-IN" dirty="0"/>
          </a:p>
        </p:txBody>
      </p:sp>
      <p:sp>
        <p:nvSpPr>
          <p:cNvPr id="3" name="Content Placeholder 2">
            <a:extLst>
              <a:ext uri="{FF2B5EF4-FFF2-40B4-BE49-F238E27FC236}">
                <a16:creationId xmlns:a16="http://schemas.microsoft.com/office/drawing/2014/main" id="{6C122573-CD00-84A4-5E4B-50D448FF45A1}"/>
              </a:ext>
            </a:extLst>
          </p:cNvPr>
          <p:cNvSpPr>
            <a:spLocks noGrp="1"/>
          </p:cNvSpPr>
          <p:nvPr>
            <p:ph idx="1"/>
          </p:nvPr>
        </p:nvSpPr>
        <p:spPr>
          <a:xfrm>
            <a:off x="838200" y="1825625"/>
            <a:ext cx="10515600" cy="3823802"/>
          </a:xfrm>
        </p:spPr>
        <p:txBody>
          <a:bodyPr wrap="square" lIns="73152" tIns="36576" rIns="73152" bIns="36576" anchor="ctr"/>
          <a:lstStyle/>
          <a:p>
            <a:pPr>
              <a:spcAft>
                <a:spcPts val="600"/>
              </a:spcAft>
            </a:pPr>
            <a:r>
              <a:rPr lang="en-IN" sz="1800" dirty="0">
                <a:solidFill>
                  <a:srgbClr val="2D3744"/>
                </a:solidFill>
                <a:latin typeface="Aptos"/>
              </a:rPr>
              <a:t>More computationally complex</a:t>
            </a:r>
          </a:p>
          <a:p>
            <a:pPr>
              <a:spcAft>
                <a:spcPts val="600"/>
              </a:spcAft>
            </a:pPr>
            <a:r>
              <a:rPr lang="en-IN" sz="1800" dirty="0">
                <a:solidFill>
                  <a:srgbClr val="2D3744"/>
                </a:solidFill>
                <a:latin typeface="Aptos"/>
              </a:rPr>
              <a:t>Parameter selection is important</a:t>
            </a:r>
          </a:p>
          <a:p>
            <a:pPr>
              <a:spcAft>
                <a:spcPts val="600"/>
              </a:spcAft>
            </a:pPr>
            <a:r>
              <a:rPr lang="en-IN" sz="1800" dirty="0">
                <a:solidFill>
                  <a:srgbClr val="2D3744"/>
                </a:solidFill>
                <a:latin typeface="Aptos"/>
              </a:rPr>
              <a:t>Sensitive to feature scaling</a:t>
            </a:r>
          </a:p>
          <a:p>
            <a:pPr>
              <a:spcAft>
                <a:spcPts val="600"/>
              </a:spcAft>
            </a:pPr>
            <a:r>
              <a:rPr lang="en-IN" sz="1800" dirty="0">
                <a:solidFill>
                  <a:srgbClr val="2D3744"/>
                </a:solidFill>
                <a:latin typeface="Aptos"/>
              </a:rPr>
              <a:t>Performance can decrease with high-dimensional data</a:t>
            </a:r>
          </a:p>
          <a:p>
            <a:pPr>
              <a:spcAft>
                <a:spcPts val="600"/>
              </a:spcAft>
            </a:pPr>
            <a:r>
              <a:rPr lang="en-IN" sz="1800" dirty="0">
                <a:solidFill>
                  <a:srgbClr val="2D3744"/>
                </a:solidFill>
                <a:latin typeface="Aptos"/>
              </a:rPr>
              <a:t>Results can be difficult to interpret initially</a:t>
            </a:r>
          </a:p>
          <a:p>
            <a:pPr>
              <a:spcAft>
                <a:spcPts val="600"/>
              </a:spcAft>
            </a:pPr>
            <a:r>
              <a:rPr lang="en-IN" sz="1800" dirty="0">
                <a:solidFill>
                  <a:srgbClr val="2D3744"/>
                </a:solidFill>
                <a:latin typeface="Aptos"/>
              </a:rPr>
              <a:t>Cluster extraction requires attention</a:t>
            </a:r>
          </a:p>
          <a:p>
            <a:pPr marL="0" indent="0">
              <a:spcAft>
                <a:spcPts val="600"/>
              </a:spcAft>
              <a:buNone/>
            </a:pPr>
            <a:endParaRPr lang="en-IN" dirty="0"/>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26</a:t>
            </a:r>
          </a:p>
        </p:txBody>
      </p:sp>
    </p:spTree>
    <p:extLst>
      <p:ext uri="{BB962C8B-B14F-4D97-AF65-F5344CB8AC3E}">
        <p14:creationId xmlns:p14="http://schemas.microsoft.com/office/powerpoint/2010/main" val="817517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EAE2F-6B74-1B57-C03F-B537A4D67437}"/>
              </a:ext>
            </a:extLst>
          </p:cNvPr>
          <p:cNvSpPr>
            <a:spLocks noGrp="1"/>
          </p:cNvSpPr>
          <p:nvPr>
            <p:ph type="title"/>
          </p:nvPr>
        </p:nvSpPr>
        <p:spPr>
          <a:xfrm>
            <a:off x="7772400" y="365125"/>
            <a:ext cx="3581400" cy="1325563"/>
          </a:xfrm>
        </p:spPr>
        <p:txBody>
          <a:bodyPr wrap="square" lIns="73152" tIns="36576" rIns="73152" bIns="36576" anchor="ctr"/>
          <a:lstStyle/>
          <a:p>
            <a:pPr algn="l">
              <a:spcAft>
                <a:spcPts val="600"/>
              </a:spcAft>
            </a:pPr>
            <a:r>
              <a:rPr lang="en-US" sz="2800" b="1" dirty="0">
                <a:solidFill>
                  <a:srgbClr val="123054"/>
                </a:solidFill>
                <a:latin typeface="Aptos"/>
              </a:rPr>
              <a:t>BIRCH Clustering</a:t>
            </a:r>
            <a:endParaRPr lang="en-IN" dirty="0"/>
          </a:p>
        </p:txBody>
      </p:sp>
      <p:sp>
        <p:nvSpPr>
          <p:cNvPr id="3" name="Content Placeholder 2">
            <a:extLst>
              <a:ext uri="{FF2B5EF4-FFF2-40B4-BE49-F238E27FC236}">
                <a16:creationId xmlns:a16="http://schemas.microsoft.com/office/drawing/2014/main" id="{FDD97E02-F35B-9A39-790D-BD82C1446653}"/>
              </a:ext>
            </a:extLst>
          </p:cNvPr>
          <p:cNvSpPr>
            <a:spLocks noGrp="1"/>
          </p:cNvSpPr>
          <p:nvPr>
            <p:ph idx="1"/>
          </p:nvPr>
        </p:nvSpPr>
        <p:spPr>
          <a:xfrm>
            <a:off x="7506161" y="1825625"/>
            <a:ext cx="3847638" cy="4033851"/>
          </a:xfrm>
        </p:spPr>
        <p:txBody>
          <a:bodyPr wrap="square" lIns="73152" tIns="36576" rIns="73152" bIns="36576" anchor="ctr"/>
          <a:lstStyle/>
          <a:p>
            <a:pPr marL="0" indent="0" algn="just">
              <a:lnSpc>
                <a:spcPct val="150000"/>
              </a:lnSpc>
              <a:spcAft>
                <a:spcPts val="600"/>
              </a:spcAft>
              <a:buNone/>
            </a:pPr>
            <a:r>
              <a:rPr lang="en-IN" sz="1800" dirty="0">
                <a:solidFill>
                  <a:srgbClr val="2D3744"/>
                </a:solidFill>
                <a:latin typeface="Aptos"/>
              </a:rPr>
              <a:t>	</a:t>
            </a:r>
            <a:r>
              <a:rPr lang="en-IN" sz="1800" b="1" dirty="0">
                <a:solidFill>
                  <a:srgbClr val="2D3744"/>
                </a:solidFill>
                <a:latin typeface="Aptos"/>
              </a:rPr>
              <a:t>BIRCH</a:t>
            </a:r>
            <a:r>
              <a:rPr lang="en-IN" sz="1800" dirty="0">
                <a:solidFill>
                  <a:srgbClr val="2D3744"/>
                </a:solidFill>
                <a:latin typeface="Aptos"/>
              </a:rPr>
              <a:t> (Balanced Iterative Reducing and Clustering using Hierarchies) is an unsupervised hierarchical clustering algorithm that efficiently clusters large datasets by incrementally constructing a Clustering Feature (CF) tree and using compact summaries of data points</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27</a:t>
            </a:r>
          </a:p>
        </p:txBody>
      </p:sp>
      <p:pic>
        <p:nvPicPr>
          <p:cNvPr id="9" name="Picture 8">
            <a:extLst>
              <a:ext uri="{FF2B5EF4-FFF2-40B4-BE49-F238E27FC236}">
                <a16:creationId xmlns:a16="http://schemas.microsoft.com/office/drawing/2014/main" id="{D3FB3BD5-CFED-7A90-2E3D-1A3BA94211C7}"/>
              </a:ext>
            </a:extLst>
          </p:cNvPr>
          <p:cNvPicPr>
            <a:picLocks noChangeAspect="1"/>
          </p:cNvPicPr>
          <p:nvPr/>
        </p:nvPicPr>
        <p:blipFill>
          <a:blip r:embed="rId2"/>
          <a:srcRect l="18178"/>
          <a:stretch>
            <a:fillRect/>
          </a:stretch>
        </p:blipFill>
        <p:spPr>
          <a:xfrm>
            <a:off x="12192" y="10"/>
            <a:ext cx="7481777" cy="685799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noFill/>
        </p:spPr>
      </p:pic>
    </p:spTree>
    <p:extLst>
      <p:ext uri="{BB962C8B-B14F-4D97-AF65-F5344CB8AC3E}">
        <p14:creationId xmlns:p14="http://schemas.microsoft.com/office/powerpoint/2010/main" val="3917600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2448-9AAE-220B-DC70-EF9A0108275B}"/>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Birch Clustering- diagram</a:t>
            </a:r>
            <a:endParaRPr lang="en-IN" dirty="0"/>
          </a:p>
        </p:txBody>
      </p:sp>
      <p:pic>
        <p:nvPicPr>
          <p:cNvPr id="5" name="Content Placeholder 4">
            <a:extLst>
              <a:ext uri="{FF2B5EF4-FFF2-40B4-BE49-F238E27FC236}">
                <a16:creationId xmlns:a16="http://schemas.microsoft.com/office/drawing/2014/main" id="{29016193-A23E-D5A6-ED70-5F12A23A32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2087" y="1981313"/>
            <a:ext cx="9640366" cy="3363573"/>
          </a:xfrm>
          <a:prstGeom prst="rect">
            <a:avLst/>
          </a:prstGeom>
        </p:spPr>
      </p:pic>
      <p:sp>
        <p:nvSpPr>
          <p:cNvPr id="6" name="Rectangle 5"/>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9" name="TextBox 8"/>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28</a:t>
            </a:r>
          </a:p>
        </p:txBody>
      </p:sp>
    </p:spTree>
    <p:extLst>
      <p:ext uri="{BB962C8B-B14F-4D97-AF65-F5344CB8AC3E}">
        <p14:creationId xmlns:p14="http://schemas.microsoft.com/office/powerpoint/2010/main" val="2631335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8B140-DF26-CD5A-A1F3-F4C7C3FBE4FB}"/>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Steps to work in Optics cluster</a:t>
            </a:r>
            <a:endParaRPr lang="en-IN" dirty="0"/>
          </a:p>
        </p:txBody>
      </p:sp>
      <p:sp>
        <p:nvSpPr>
          <p:cNvPr id="3" name="Content Placeholder 2">
            <a:extLst>
              <a:ext uri="{FF2B5EF4-FFF2-40B4-BE49-F238E27FC236}">
                <a16:creationId xmlns:a16="http://schemas.microsoft.com/office/drawing/2014/main" id="{489E40A5-17F4-F325-D578-1A0EFE3BD71C}"/>
              </a:ext>
            </a:extLst>
          </p:cNvPr>
          <p:cNvSpPr>
            <a:spLocks noGrp="1"/>
          </p:cNvSpPr>
          <p:nvPr>
            <p:ph idx="1"/>
          </p:nvPr>
        </p:nvSpPr>
        <p:spPr>
          <a:xfrm>
            <a:off x="838200" y="1825625"/>
            <a:ext cx="10515600" cy="3932918"/>
          </a:xfrm>
        </p:spPr>
        <p:txBody>
          <a:bodyPr wrap="square" lIns="73152" tIns="36576" rIns="73152" bIns="36576" anchor="ctr"/>
          <a:lstStyle/>
          <a:p>
            <a:pPr>
              <a:spcAft>
                <a:spcPts val="600"/>
              </a:spcAft>
            </a:pPr>
            <a:r>
              <a:rPr lang="en-IN" sz="1800" dirty="0">
                <a:solidFill>
                  <a:srgbClr val="2D3744"/>
                </a:solidFill>
                <a:latin typeface="Aptos"/>
              </a:rPr>
              <a:t>Dataset &amp; Preprocessing</a:t>
            </a:r>
          </a:p>
          <a:p>
            <a:pPr>
              <a:spcAft>
                <a:spcPts val="600"/>
              </a:spcAft>
            </a:pPr>
            <a:r>
              <a:rPr lang="en-IN" sz="1800" dirty="0">
                <a:solidFill>
                  <a:srgbClr val="2D3744"/>
                </a:solidFill>
                <a:latin typeface="Aptos"/>
              </a:rPr>
              <a:t>Incremental Data Processing</a:t>
            </a:r>
          </a:p>
          <a:p>
            <a:pPr>
              <a:spcAft>
                <a:spcPts val="600"/>
              </a:spcAft>
            </a:pPr>
            <a:r>
              <a:rPr lang="en-IN" sz="1800" dirty="0">
                <a:solidFill>
                  <a:srgbClr val="2D3744"/>
                </a:solidFill>
                <a:latin typeface="Aptos"/>
              </a:rPr>
              <a:t>Clustering Features (CF)</a:t>
            </a:r>
          </a:p>
          <a:p>
            <a:pPr>
              <a:spcAft>
                <a:spcPts val="600"/>
              </a:spcAft>
            </a:pPr>
            <a:r>
              <a:rPr lang="en-IN" sz="1800" dirty="0">
                <a:solidFill>
                  <a:srgbClr val="2D3744"/>
                </a:solidFill>
                <a:latin typeface="Aptos"/>
              </a:rPr>
              <a:t>CF Tree Construction</a:t>
            </a:r>
          </a:p>
          <a:p>
            <a:pPr>
              <a:spcAft>
                <a:spcPts val="600"/>
              </a:spcAft>
            </a:pPr>
            <a:r>
              <a:rPr lang="en-IN" sz="1800" dirty="0">
                <a:solidFill>
                  <a:srgbClr val="2D3744"/>
                </a:solidFill>
                <a:latin typeface="Aptos"/>
              </a:rPr>
              <a:t>Sub-cluster Formation</a:t>
            </a:r>
          </a:p>
          <a:p>
            <a:pPr>
              <a:spcAft>
                <a:spcPts val="600"/>
              </a:spcAft>
            </a:pPr>
            <a:r>
              <a:rPr lang="en-IN" sz="1800" dirty="0">
                <a:solidFill>
                  <a:srgbClr val="2D3744"/>
                </a:solidFill>
                <a:latin typeface="Aptos"/>
              </a:rPr>
              <a:t>CF Tree Compression</a:t>
            </a:r>
          </a:p>
          <a:p>
            <a:pPr>
              <a:spcAft>
                <a:spcPts val="600"/>
              </a:spcAft>
            </a:pPr>
            <a:r>
              <a:rPr lang="en-IN" sz="1800" dirty="0">
                <a:solidFill>
                  <a:srgbClr val="2D3744"/>
                </a:solidFill>
                <a:latin typeface="Aptos"/>
              </a:rPr>
              <a:t>Global Clustering</a:t>
            </a:r>
          </a:p>
          <a:p>
            <a:pPr>
              <a:spcAft>
                <a:spcPts val="600"/>
              </a:spcAft>
            </a:pPr>
            <a:r>
              <a:rPr lang="en-IN" sz="1800" dirty="0">
                <a:solidFill>
                  <a:srgbClr val="2D3744"/>
                </a:solidFill>
                <a:latin typeface="Aptos"/>
              </a:rPr>
              <a:t>Final Cluster Labels</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29</a:t>
            </a:r>
          </a:p>
        </p:txBody>
      </p:sp>
    </p:spTree>
    <p:extLst>
      <p:ext uri="{BB962C8B-B14F-4D97-AF65-F5344CB8AC3E}">
        <p14:creationId xmlns:p14="http://schemas.microsoft.com/office/powerpoint/2010/main" val="71142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1347D-8A66-EA77-7C65-1CBE8BC1FAA2}"/>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Advantages</a:t>
            </a:r>
            <a:endParaRPr lang="en-IN" dirty="0"/>
          </a:p>
        </p:txBody>
      </p:sp>
      <p:sp>
        <p:nvSpPr>
          <p:cNvPr id="3" name="Content Placeholder 2">
            <a:extLst>
              <a:ext uri="{FF2B5EF4-FFF2-40B4-BE49-F238E27FC236}">
                <a16:creationId xmlns:a16="http://schemas.microsoft.com/office/drawing/2014/main" id="{6E9ABDCB-B997-7FA8-23CD-BDDFC7A9291E}"/>
              </a:ext>
            </a:extLst>
          </p:cNvPr>
          <p:cNvSpPr>
            <a:spLocks noGrp="1"/>
          </p:cNvSpPr>
          <p:nvPr>
            <p:ph idx="1"/>
          </p:nvPr>
        </p:nvSpPr>
        <p:spPr>
          <a:xfrm>
            <a:off x="838200" y="1607910"/>
            <a:ext cx="10515600" cy="4237632"/>
          </a:xfrm>
        </p:spPr>
        <p:txBody>
          <a:bodyPr wrap="square" lIns="73152" tIns="36576" rIns="73152" bIns="36576" anchor="ctr"/>
          <a:lstStyle/>
          <a:p>
            <a:pPr>
              <a:spcAft>
                <a:spcPts val="600"/>
              </a:spcAft>
            </a:pPr>
            <a:r>
              <a:rPr lang="en-IN" sz="1800" dirty="0">
                <a:solidFill>
                  <a:srgbClr val="2D3744"/>
                </a:solidFill>
                <a:latin typeface="Aptos"/>
              </a:rPr>
              <a:t>Handles large datasets</a:t>
            </a:r>
          </a:p>
          <a:p>
            <a:pPr>
              <a:spcAft>
                <a:spcPts val="600"/>
              </a:spcAft>
            </a:pPr>
            <a:r>
              <a:rPr lang="en-IN" sz="1800" dirty="0">
                <a:solidFill>
                  <a:srgbClr val="2D3744"/>
                </a:solidFill>
                <a:latin typeface="Aptos"/>
              </a:rPr>
              <a:t>Memory efficient</a:t>
            </a:r>
          </a:p>
          <a:p>
            <a:pPr>
              <a:spcAft>
                <a:spcPts val="600"/>
              </a:spcAft>
            </a:pPr>
            <a:r>
              <a:rPr lang="en-IN" sz="1800" dirty="0">
                <a:solidFill>
                  <a:srgbClr val="2D3744"/>
                </a:solidFill>
                <a:latin typeface="Aptos"/>
              </a:rPr>
              <a:t>Incremental processing</a:t>
            </a:r>
          </a:p>
          <a:p>
            <a:pPr>
              <a:spcAft>
                <a:spcPts val="600"/>
              </a:spcAft>
            </a:pPr>
            <a:r>
              <a:rPr lang="en-IN" sz="1800" dirty="0">
                <a:solidFill>
                  <a:srgbClr val="2D3744"/>
                </a:solidFill>
                <a:latin typeface="Aptos"/>
              </a:rPr>
              <a:t>Fast clustering</a:t>
            </a:r>
          </a:p>
          <a:p>
            <a:pPr>
              <a:spcAft>
                <a:spcPts val="600"/>
              </a:spcAft>
            </a:pPr>
            <a:r>
              <a:rPr lang="en-IN" sz="1800" dirty="0">
                <a:solidFill>
                  <a:srgbClr val="2D3744"/>
                </a:solidFill>
                <a:latin typeface="Aptos"/>
              </a:rPr>
              <a:t>Compact representation</a:t>
            </a:r>
          </a:p>
          <a:p>
            <a:pPr>
              <a:spcAft>
                <a:spcPts val="600"/>
              </a:spcAft>
            </a:pPr>
            <a:r>
              <a:rPr lang="en-IN" sz="1800" dirty="0">
                <a:solidFill>
                  <a:srgbClr val="2D3744"/>
                </a:solidFill>
                <a:latin typeface="Aptos"/>
              </a:rPr>
              <a:t>Suitable for large datasets</a:t>
            </a:r>
          </a:p>
          <a:p>
            <a:pPr>
              <a:spcAft>
                <a:spcPts val="600"/>
              </a:spcAft>
            </a:pPr>
            <a:r>
              <a:rPr lang="en-IN" sz="1800" dirty="0">
                <a:solidFill>
                  <a:srgbClr val="2D3744"/>
                </a:solidFill>
                <a:latin typeface="Aptos"/>
              </a:rPr>
              <a:t>Hierarchical structure</a:t>
            </a:r>
          </a:p>
          <a:p>
            <a:pPr>
              <a:spcAft>
                <a:spcPts val="600"/>
              </a:spcAft>
            </a:pPr>
            <a:r>
              <a:rPr lang="en-IN" sz="1800" dirty="0">
                <a:solidFill>
                  <a:srgbClr val="2D3744"/>
                </a:solidFill>
                <a:latin typeface="Aptos"/>
              </a:rPr>
              <a:t>Does not require storing every detail during tree construction</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30</a:t>
            </a:r>
          </a:p>
        </p:txBody>
      </p:sp>
    </p:spTree>
    <p:extLst>
      <p:ext uri="{BB962C8B-B14F-4D97-AF65-F5344CB8AC3E}">
        <p14:creationId xmlns:p14="http://schemas.microsoft.com/office/powerpoint/2010/main" val="1504967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45AB5-D51F-3E6A-8CE4-7C724B57BA50}"/>
              </a:ext>
            </a:extLst>
          </p:cNvPr>
          <p:cNvSpPr>
            <a:spLocks noGrp="1"/>
          </p:cNvSpPr>
          <p:nvPr>
            <p:ph type="title"/>
          </p:nvPr>
        </p:nvSpPr>
        <p:spPr/>
        <p:txBody>
          <a:bodyPr wrap="square" lIns="73152" tIns="36576" rIns="73152" bIns="36576" anchor="ctr"/>
          <a:lstStyle/>
          <a:p>
            <a:pPr algn="l">
              <a:spcAft>
                <a:spcPts val="600"/>
              </a:spcAft>
            </a:pPr>
            <a:r>
              <a:rPr lang="en-US" sz="2800" b="1" dirty="0">
                <a:solidFill>
                  <a:srgbClr val="123054"/>
                </a:solidFill>
                <a:latin typeface="Aptos"/>
              </a:rPr>
              <a:t>Disadvantages</a:t>
            </a:r>
            <a:endParaRPr lang="en-IN" dirty="0"/>
          </a:p>
        </p:txBody>
      </p:sp>
      <p:sp>
        <p:nvSpPr>
          <p:cNvPr id="3" name="Content Placeholder 2">
            <a:extLst>
              <a:ext uri="{FF2B5EF4-FFF2-40B4-BE49-F238E27FC236}">
                <a16:creationId xmlns:a16="http://schemas.microsoft.com/office/drawing/2014/main" id="{1C600BDC-FD53-5CD7-2B11-2DB3D01DA253}"/>
              </a:ext>
            </a:extLst>
          </p:cNvPr>
          <p:cNvSpPr>
            <a:spLocks noGrp="1"/>
          </p:cNvSpPr>
          <p:nvPr>
            <p:ph idx="1"/>
          </p:nvPr>
        </p:nvSpPr>
        <p:spPr>
          <a:xfrm>
            <a:off x="838200" y="1690688"/>
            <a:ext cx="10515600" cy="3725830"/>
          </a:xfrm>
        </p:spPr>
        <p:txBody>
          <a:bodyPr wrap="square" lIns="73152" tIns="36576" rIns="73152" bIns="36576" anchor="ctr"/>
          <a:lstStyle/>
          <a:p>
            <a:pPr>
              <a:spcAft>
                <a:spcPts val="600"/>
              </a:spcAft>
            </a:pPr>
            <a:r>
              <a:rPr lang="en-IN" sz="1800" dirty="0">
                <a:solidFill>
                  <a:srgbClr val="2D3744"/>
                </a:solidFill>
                <a:latin typeface="Aptos"/>
              </a:rPr>
              <a:t>Sensitive to threshold</a:t>
            </a:r>
          </a:p>
          <a:p>
            <a:pPr>
              <a:spcAft>
                <a:spcPts val="600"/>
              </a:spcAft>
            </a:pPr>
            <a:r>
              <a:rPr lang="en-IN" sz="1800" dirty="0">
                <a:solidFill>
                  <a:srgbClr val="2D3744"/>
                </a:solidFill>
                <a:latin typeface="Aptos"/>
              </a:rPr>
              <a:t>Sensitive to feature scaling</a:t>
            </a:r>
          </a:p>
          <a:p>
            <a:pPr>
              <a:spcAft>
                <a:spcPts val="600"/>
              </a:spcAft>
            </a:pPr>
            <a:r>
              <a:rPr lang="en-IN" sz="1800" dirty="0">
                <a:solidFill>
                  <a:srgbClr val="2D3744"/>
                </a:solidFill>
                <a:latin typeface="Aptos"/>
              </a:rPr>
              <a:t>Works best with numerical data</a:t>
            </a:r>
          </a:p>
          <a:p>
            <a:pPr>
              <a:spcAft>
                <a:spcPts val="600"/>
              </a:spcAft>
            </a:pPr>
            <a:r>
              <a:rPr lang="en-IN" sz="1800" dirty="0">
                <a:solidFill>
                  <a:srgbClr val="2D3744"/>
                </a:solidFill>
                <a:latin typeface="Aptos"/>
              </a:rPr>
              <a:t>CF tree depends on parameter settings</a:t>
            </a:r>
          </a:p>
          <a:p>
            <a:pPr>
              <a:spcAft>
                <a:spcPts val="600"/>
              </a:spcAft>
            </a:pPr>
            <a:r>
              <a:rPr lang="en-IN" sz="1800" dirty="0">
                <a:solidFill>
                  <a:srgbClr val="2D3744"/>
                </a:solidFill>
                <a:latin typeface="Aptos"/>
              </a:rPr>
              <a:t>Can be affected by outliers</a:t>
            </a:r>
          </a:p>
          <a:p>
            <a:pPr>
              <a:spcAft>
                <a:spcPts val="600"/>
              </a:spcAft>
            </a:pPr>
            <a:r>
              <a:rPr lang="en-IN" sz="1800" dirty="0">
                <a:solidFill>
                  <a:srgbClr val="2D3744"/>
                </a:solidFill>
                <a:latin typeface="Aptos"/>
              </a:rPr>
              <a:t>High-dimensional data can be challenging</a:t>
            </a:r>
          </a:p>
          <a:p>
            <a:pPr>
              <a:spcAft>
                <a:spcPts val="600"/>
              </a:spcAft>
            </a:pPr>
            <a:r>
              <a:rPr lang="en-IN" sz="1800" dirty="0">
                <a:solidFill>
                  <a:srgbClr val="2D3744"/>
                </a:solidFill>
                <a:latin typeface="Aptos"/>
              </a:rPr>
              <a:t>Interpretation of clusters may require additional analysis</a:t>
            </a:r>
          </a:p>
        </p:txBody>
      </p:sp>
      <p:sp>
        <p:nvSpPr>
          <p:cNvPr id="4" name="Rectangle 3"/>
          <p:cNvSpPr/>
          <p:nvPr/>
        </p:nvSpPr>
        <p:spPr>
          <a:xfrm>
            <a:off x="0" y="0"/>
            <a:ext cx="12192000" cy="731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84048" y="6473952"/>
            <a:ext cx="11423904" cy="10972"/>
          </a:xfrm>
          <a:prstGeom prst="rect">
            <a:avLst/>
          </a:prstGeom>
          <a:solidFill>
            <a:srgbClr val="D2D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6528816"/>
            <a:ext cx="5486400" cy="201168"/>
          </a:xfrm>
          <a:prstGeom prst="rect">
            <a:avLst/>
          </a:prstGeom>
          <a:noFill/>
        </p:spPr>
        <p:txBody>
          <a:bodyPr wrap="none">
            <a:spAutoFit/>
          </a:bodyPr>
          <a:lstStyle/>
          <a:p>
            <a:pPr algn="l">
              <a:defRPr sz="800" b="1">
                <a:solidFill>
                  <a:srgbClr val="5C6A7A"/>
                </a:solidFill>
                <a:latin typeface="Aptos"/>
              </a:defRPr>
            </a:pPr>
            <a:r>
              <a:t>MACHINE LEARNING  |  CLUSTERING ALGORITHMS</a:t>
            </a:r>
          </a:p>
        </p:txBody>
      </p:sp>
      <p:sp>
        <p:nvSpPr>
          <p:cNvPr id="7" name="TextBox 6"/>
          <p:cNvSpPr txBox="1"/>
          <p:nvPr/>
        </p:nvSpPr>
        <p:spPr>
          <a:xfrm>
            <a:off x="11460480" y="6528816"/>
            <a:ext cx="320040" cy="201168"/>
          </a:xfrm>
          <a:prstGeom prst="rect">
            <a:avLst/>
          </a:prstGeom>
          <a:noFill/>
        </p:spPr>
        <p:txBody>
          <a:bodyPr wrap="none">
            <a:spAutoFit/>
          </a:bodyPr>
          <a:lstStyle/>
          <a:p>
            <a:pPr algn="r">
              <a:defRPr sz="900" b="1">
                <a:solidFill>
                  <a:srgbClr val="0070C0"/>
                </a:solidFill>
                <a:latin typeface="Aptos"/>
              </a:defRPr>
            </a:pPr>
            <a:r>
              <a:t>31</a:t>
            </a:r>
          </a:p>
        </p:txBody>
      </p:sp>
    </p:spTree>
    <p:extLst>
      <p:ext uri="{BB962C8B-B14F-4D97-AF65-F5344CB8AC3E}">
        <p14:creationId xmlns:p14="http://schemas.microsoft.com/office/powerpoint/2010/main" val="3539730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482</TotalTime>
  <Words>1153</Words>
  <Application>Microsoft Office PowerPoint</Application>
  <PresentationFormat>Widescreen</PresentationFormat>
  <Paragraphs>227</Paragraphs>
  <Slides>31</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Aptos</vt:lpstr>
      <vt:lpstr>Aptos Display</vt:lpstr>
      <vt:lpstr>Arial</vt:lpstr>
      <vt:lpstr>Office Theme</vt:lpstr>
      <vt:lpstr>Machine Learning - Clustering</vt:lpstr>
      <vt:lpstr>Affinity Propagation</vt:lpstr>
      <vt:lpstr>Affinity Propagation – Venn Diagram</vt:lpstr>
      <vt:lpstr>Steps to work in Affinity Propagation</vt:lpstr>
      <vt:lpstr>Advantages</vt:lpstr>
      <vt:lpstr>Disadvantages</vt:lpstr>
      <vt:lpstr>Mean Shift</vt:lpstr>
      <vt:lpstr>MeanShift – Venn Diagram</vt:lpstr>
      <vt:lpstr>Steps to work in MeanShift</vt:lpstr>
      <vt:lpstr>Advantages</vt:lpstr>
      <vt:lpstr>Disadvantages</vt:lpstr>
      <vt:lpstr>Spectral Clustering</vt:lpstr>
      <vt:lpstr>Spectral Clustering - Diagram</vt:lpstr>
      <vt:lpstr>Steps to work in Spectral cluster</vt:lpstr>
      <vt:lpstr>Advantages</vt:lpstr>
      <vt:lpstr>Disadvantages</vt:lpstr>
      <vt:lpstr>DBSCAN Clustering</vt:lpstr>
      <vt:lpstr>DBSCAN Clustering- diagram</vt:lpstr>
      <vt:lpstr>Steps to work in DBSCAN cluster</vt:lpstr>
      <vt:lpstr>Advantages</vt:lpstr>
      <vt:lpstr>Disadvantages</vt:lpstr>
      <vt:lpstr>OPTICS Clustering</vt:lpstr>
      <vt:lpstr>Optics Clustering- diagram</vt:lpstr>
      <vt:lpstr>Steps to work in Optics cluster</vt:lpstr>
      <vt:lpstr>Advantages</vt:lpstr>
      <vt:lpstr>Disadvantages</vt:lpstr>
      <vt:lpstr>BIRCH Clustering</vt:lpstr>
      <vt:lpstr>Birch Clustering- diagram</vt:lpstr>
      <vt:lpstr>Steps to work in Optics cluster</vt:lpstr>
      <vt:lpstr>Advantages</vt:lpstr>
      <vt:lpstr>Disadvantages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Suresh</dc:creator>
  <cp:lastModifiedBy>Suresh</cp:lastModifiedBy>
  <cp:revision>11</cp:revision>
  <dcterms:created xsi:type="dcterms:W3CDTF">2026-09-14T06:11:18Z</dcterms:created>
  <dcterms:modified xsi:type="dcterms:W3CDTF">2026-10-11T05:55:18Z</dcterms:modified>
</cp:coreProperties>
</file>